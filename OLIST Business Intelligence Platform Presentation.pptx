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Playfair Display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  <p:embeddedFont>
      <p:font typeface="Lato Black"/>
      <p:bold r:id="rId29"/>
      <p:boldItalic r:id="rId30"/>
    </p:embeddedFont>
    <p:embeddedFont>
      <p:font typeface="Playfair Display SemiBol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6B53736-D7B8-4424-A874-45FF08F00F56}">
  <a:tblStyle styleId="{E6B53736-D7B8-4424-A874-45FF08F00F5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layfairDisplay-bold.fntdata"/><Relationship Id="rId21" Type="http://schemas.openxmlformats.org/officeDocument/2006/relationships/font" Target="fonts/PlayfairDisplay-regular.fntdata"/><Relationship Id="rId24" Type="http://schemas.openxmlformats.org/officeDocument/2006/relationships/font" Target="fonts/PlayfairDisplay-boldItalic.fntdata"/><Relationship Id="rId23" Type="http://schemas.openxmlformats.org/officeDocument/2006/relationships/font" Target="fonts/PlayfairDispl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Black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ayfairDisplaySemiBold-regular.fntdata"/><Relationship Id="rId30" Type="http://schemas.openxmlformats.org/officeDocument/2006/relationships/font" Target="fonts/LatoBlack-boldItalic.fntdata"/><Relationship Id="rId11" Type="http://schemas.openxmlformats.org/officeDocument/2006/relationships/slide" Target="slides/slide5.xml"/><Relationship Id="rId33" Type="http://schemas.openxmlformats.org/officeDocument/2006/relationships/font" Target="fonts/PlayfairDisplaySemiBold-italic.fntdata"/><Relationship Id="rId10" Type="http://schemas.openxmlformats.org/officeDocument/2006/relationships/slide" Target="slides/slide4.xml"/><Relationship Id="rId32" Type="http://schemas.openxmlformats.org/officeDocument/2006/relationships/font" Target="fonts/PlayfairDisplaySemiBol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PlayfairDisplaySemiBold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5829300"/>
            <a:ext cx="1085850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666750" y="619125"/>
            <a:ext cx="10858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901F"/>
                </a:solidFill>
                <a:latin typeface="Lato Black"/>
                <a:ea typeface="Lato Black"/>
                <a:cs typeface="Lato Black"/>
                <a:sym typeface="Lato Black"/>
              </a:rPr>
              <a:t>EXECUTIVE INTELLIGENCE PLATFORM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666750" y="838200"/>
            <a:ext cx="10858500" cy="19050"/>
          </a:xfrm>
          <a:prstGeom prst="rect">
            <a:avLst/>
          </a:prstGeom>
          <a:solidFill>
            <a:srgbClr val="B890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66750" y="2441525"/>
            <a:ext cx="8572500" cy="950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75" u="none" cap="none" strike="noStrike">
                <a:solidFill>
                  <a:srgbClr val="556B2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OLIST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66750" y="3505944"/>
            <a:ext cx="857250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F2F2F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Brazilian E-Commerce BI Platform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66750" y="4130724"/>
            <a:ext cx="8572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Sales &amp; Supply Chain Analytics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66750" y="6029325"/>
            <a:ext cx="21812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556B2F"/>
                </a:solidFill>
                <a:latin typeface="Lato"/>
                <a:ea typeface="Lato"/>
                <a:cs typeface="Lato"/>
                <a:sym typeface="Lato"/>
              </a:rPr>
              <a:t>ENG. ISLAM AL-ZQAQY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9620250" y="6053137"/>
            <a:ext cx="1905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ENTERPRISE BI SHOWCASE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/>
        </p:nvSpPr>
        <p:spPr>
          <a:xfrm>
            <a:off x="1781175" y="2411908"/>
            <a:ext cx="8629650" cy="2262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556B2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can Olist leverage unified BI analytics to maximize its $13.5M revenue stream while mitigating $2.25M in freight friction across 98,666 order fulfillments?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343400" y="5008066"/>
            <a:ext cx="3505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— CORE STRATEGIC BI MANDATE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209675" y="2792908"/>
            <a:ext cx="390525" cy="140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D1CBB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591800" y="4579436"/>
            <a:ext cx="390525" cy="140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D1CBB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523875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556B2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Unlocking Marketplace Revenue Growth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66987"/>
            <a:ext cx="2619375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1375" y="2566987"/>
            <a:ext cx="2619375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250" y="2566987"/>
            <a:ext cx="2619375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5" y="2566987"/>
            <a:ext cx="2619375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43025"/>
            <a:ext cx="11049000" cy="4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1119187" y="2862262"/>
            <a:ext cx="1524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B8901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$13.5M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054893" y="3452812"/>
            <a:ext cx="165258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6B2F"/>
                </a:solidFill>
                <a:latin typeface="Lato"/>
                <a:ea typeface="Lato"/>
                <a:cs typeface="Lato"/>
                <a:sym typeface="Lato"/>
              </a:rPr>
              <a:t>TOTAL GMV REVENUE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128712" y="3709987"/>
            <a:ext cx="15049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Gross Merchandise Value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3933825" y="2862262"/>
            <a:ext cx="15144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B8901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98,666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3945731" y="3452812"/>
            <a:ext cx="149066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6B2F"/>
                </a:solidFill>
                <a:latin typeface="Lato"/>
                <a:ea typeface="Lato"/>
                <a:cs typeface="Lato"/>
                <a:sym typeface="Lato"/>
              </a:rPr>
              <a:t>EXECUTED ORDERS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3971925" y="3709987"/>
            <a:ext cx="14382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Completed Transactions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748462" y="2862262"/>
            <a:ext cx="15049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B8901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$137.75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588918" y="3452812"/>
            <a:ext cx="18240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6B2F"/>
                </a:solidFill>
                <a:latin typeface="Lato"/>
                <a:ea typeface="Lato"/>
                <a:cs typeface="Lato"/>
                <a:sym typeface="Lato"/>
              </a:rPr>
              <a:t>AVERAGE ORDER VALUE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024687" y="3709987"/>
            <a:ext cx="952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AOV Per Basket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510712" y="2862262"/>
            <a:ext cx="1600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B8901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112,650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651206" y="3452812"/>
            <a:ext cx="13192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6B2F"/>
                </a:solidFill>
                <a:latin typeface="Lato"/>
                <a:ea typeface="Lato"/>
                <a:cs typeface="Lato"/>
                <a:sym typeface="Lato"/>
              </a:rPr>
              <a:t>PRODUCTS SOLD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720262" y="3709987"/>
            <a:ext cx="11811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Across Marketplace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71500" y="523875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556B2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Executive Sales Analytics Snapshot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2882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685800" y="25431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781050" y="2543175"/>
            <a:ext cx="5076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Data Cleansing:</a:t>
            </a:r>
            <a:r>
              <a:rPr b="0" i="0" lang="en-US" sz="13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 Automated Python scripts clean raw e-commerce logs, removing anomalies across 98k+ sales records.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85800" y="31908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81050" y="3190875"/>
            <a:ext cx="5076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Feature Engineering:</a:t>
            </a:r>
            <a:r>
              <a:rPr b="0" i="0" lang="en-US" sz="13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 Power Query transforms raw attributes to calculate precise delivery durations and revenue metrics.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85800" y="38385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81050" y="3838575"/>
            <a:ext cx="5076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Dynamic Modeling:</a:t>
            </a:r>
            <a:r>
              <a:rPr b="0" i="0" lang="en-US" sz="13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 DAX measures calculate real-time GMV, regional sales distribution, and shipping margins.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85800" y="44862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81050" y="4486275"/>
            <a:ext cx="5076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Executive Scale:</a:t>
            </a:r>
            <a:r>
              <a:rPr b="0" i="0" lang="en-US" sz="13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 Optimized enterprise model ensures sub-second dashboard query responsiveness.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203835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571500" y="523875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556B2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Robust BI Data Architecture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343025"/>
            <a:ext cx="11049000" cy="4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847725" y="5167312"/>
            <a:ext cx="104965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Health &amp; Beauty and Watches lead overall marketplace gross turnover, exceeding $1.2M each. Everyday consumer goods and technology accessories account for over 40% of overall platform gross merchandise value.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523875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556B2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Top Revenue-Generating Categories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343025"/>
            <a:ext cx="11049000" cy="4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847725" y="4710112"/>
            <a:ext cx="104965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São Paulo (SP) serves as the core commercial powerhouse, generating over $5.2M in direct sales. Expanding seller density in RJ and MG represents the primary high-yield territorial expansion target.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523875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556B2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Regional Revenue Breakdown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2882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6334125" y="2309812"/>
            <a:ext cx="555069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56B2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High Buyer Concentration</a:t>
            </a:r>
            <a:endParaRPr/>
          </a:p>
        </p:txBody>
      </p:sp>
      <p:pic>
        <p:nvPicPr>
          <p:cNvPr descr="image.png" id="160" name="Google Shape;16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3835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6448425" y="27765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6543675" y="2776537"/>
            <a:ext cx="5076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41,375 SP Buyers:</a:t>
            </a:r>
            <a:r>
              <a:rPr b="0" i="0" lang="en-US" sz="13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 São Paulo represents 42% of the entire national customer base, creating dense delivery corridors.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6448425" y="34242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6543675" y="3424237"/>
            <a:ext cx="5076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12,852 RJ Buyers:</a:t>
            </a:r>
            <a:r>
              <a:rPr b="0" i="0" lang="en-US" sz="13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 Rio de Janeiro forms the second largest market segment with sustained order frequency.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6448425" y="40719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6543675" y="4071937"/>
            <a:ext cx="5076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11,635 MG Buyers:</a:t>
            </a:r>
            <a:r>
              <a:rPr b="0" i="0" lang="en-US" sz="13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 Minas Gerais completes the primary commercial cluster in Southeast Brazil.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6448425" y="47196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6543675" y="4719637"/>
            <a:ext cx="5076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Retention Opportunity:</a:t>
            </a:r>
            <a:r>
              <a:rPr b="0" i="0" lang="en-US" sz="13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 High geographic density allows for dedicated local fulfillment hubs.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571500" y="523875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556B2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Customer Base &amp; Geospatial Density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343025"/>
            <a:ext cx="11049000" cy="4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/>
          <p:nvPr/>
        </p:nvSpPr>
        <p:spPr>
          <a:xfrm>
            <a:off x="571500" y="1843087"/>
            <a:ext cx="11049000" cy="30480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6" name="Google Shape;176;p20"/>
          <p:cNvGraphicFramePr/>
          <p:nvPr/>
        </p:nvGraphicFramePr>
        <p:xfrm>
          <a:off x="571500" y="18430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{E6B53736-D7B8-4424-A874-45FF08F00F56}</a:tableStyleId>
              </a:tblPr>
              <a:tblGrid>
                <a:gridCol w="3187750"/>
                <a:gridCol w="1922125"/>
                <a:gridCol w="2279300"/>
                <a:gridCol w="3650300"/>
              </a:tblGrid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Metric Segment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6B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 Volume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6B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Pct of Total GMV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6B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Operational Impact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6B2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F2F2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Gross Merchandise Value (GMV)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2F2F2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$13,590,000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2F2F2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2F2F2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Primary Marketplace Revenue Driver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F2F2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 Freight Expenditures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2F2F2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$2,250,000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2F2F2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16.6%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2F2F2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Significant Direct Margin Compression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F2F2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Net Seller Yield (Pre-Fee)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2F2F2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$11,340,000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2F2F2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83.4%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2F2F2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Merchant Retained Revenue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F2F2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Avg Freight Per Order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2F2F2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$22.80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2F2F2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16.5% of AOV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2F2F2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Key Factor in Cart Abandonment 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7" name="Google Shape;177;p20"/>
          <p:cNvSpPr/>
          <p:nvPr/>
        </p:nvSpPr>
        <p:spPr>
          <a:xfrm>
            <a:off x="576262" y="3048000"/>
            <a:ext cx="3187749" cy="9525"/>
          </a:xfrm>
          <a:prstGeom prst="rect">
            <a:avLst/>
          </a:prstGeom>
          <a:solidFill>
            <a:srgbClr val="D1CB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3764012" y="3048000"/>
            <a:ext cx="1922115" cy="9525"/>
          </a:xfrm>
          <a:prstGeom prst="rect">
            <a:avLst/>
          </a:prstGeom>
          <a:solidFill>
            <a:srgbClr val="D1CB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5686127" y="3048000"/>
            <a:ext cx="2279302" cy="9525"/>
          </a:xfrm>
          <a:prstGeom prst="rect">
            <a:avLst/>
          </a:prstGeom>
          <a:solidFill>
            <a:srgbClr val="D1CB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7965430" y="3048000"/>
            <a:ext cx="3650307" cy="9525"/>
          </a:xfrm>
          <a:prstGeom prst="rect">
            <a:avLst/>
          </a:prstGeom>
          <a:solidFill>
            <a:srgbClr val="D1CB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576262" y="3657600"/>
            <a:ext cx="3187749" cy="9525"/>
          </a:xfrm>
          <a:prstGeom prst="rect">
            <a:avLst/>
          </a:prstGeom>
          <a:solidFill>
            <a:srgbClr val="D1CB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3764012" y="3657600"/>
            <a:ext cx="1922115" cy="9525"/>
          </a:xfrm>
          <a:prstGeom prst="rect">
            <a:avLst/>
          </a:prstGeom>
          <a:solidFill>
            <a:srgbClr val="D1CB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686127" y="3657600"/>
            <a:ext cx="2279302" cy="9525"/>
          </a:xfrm>
          <a:prstGeom prst="rect">
            <a:avLst/>
          </a:prstGeom>
          <a:solidFill>
            <a:srgbClr val="D1CB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7965430" y="3657600"/>
            <a:ext cx="3650307" cy="9525"/>
          </a:xfrm>
          <a:prstGeom prst="rect">
            <a:avLst/>
          </a:prstGeom>
          <a:solidFill>
            <a:srgbClr val="D1CB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76262" y="4267200"/>
            <a:ext cx="3187749" cy="9525"/>
          </a:xfrm>
          <a:prstGeom prst="rect">
            <a:avLst/>
          </a:prstGeom>
          <a:solidFill>
            <a:srgbClr val="D1CB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3764012" y="4267200"/>
            <a:ext cx="1922115" cy="9525"/>
          </a:xfrm>
          <a:prstGeom prst="rect">
            <a:avLst/>
          </a:prstGeom>
          <a:solidFill>
            <a:srgbClr val="D1CB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686127" y="4267200"/>
            <a:ext cx="2279302" cy="9525"/>
          </a:xfrm>
          <a:prstGeom prst="rect">
            <a:avLst/>
          </a:prstGeom>
          <a:solidFill>
            <a:srgbClr val="D1CB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7965430" y="4267200"/>
            <a:ext cx="3650307" cy="9525"/>
          </a:xfrm>
          <a:prstGeom prst="rect">
            <a:avLst/>
          </a:prstGeom>
          <a:solidFill>
            <a:srgbClr val="D1CB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71500" y="523875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556B2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Freight Cost vs. Gross Revenue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343025"/>
            <a:ext cx="11049000" cy="4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847725" y="5367337"/>
            <a:ext cx="104965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Average order fulfillment takes 12 days nationwide. However, a persistent 9% delivery delay rate negatively impacts customer satisfaction, with peak periods reaching a 17.34% delay rate.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571500" y="523875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556B2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Supply Chain Fulfillment &amp; SLAs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/>
          <p:nvPr/>
        </p:nvSpPr>
        <p:spPr>
          <a:xfrm>
            <a:off x="571500" y="2314575"/>
            <a:ext cx="11049000" cy="30480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2" name="Google Shape;202;p22"/>
          <p:cNvGraphicFramePr/>
          <p:nvPr/>
        </p:nvGraphicFramePr>
        <p:xfrm>
          <a:off x="571500" y="23145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{E6B53736-D7B8-4424-A874-45FF08F00F56}</a:tableStyleId>
              </a:tblPr>
              <a:tblGrid>
                <a:gridCol w="3367075"/>
                <a:gridCol w="1912750"/>
                <a:gridCol w="1306700"/>
                <a:gridCol w="4452925"/>
              </a:tblGrid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Product 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6B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Avg Lead 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6B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SLA 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6B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Recommended Logistics Strategy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6B2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2F2F2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Móveis Escritório (Office Furniture)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2F2F2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Critical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2F2F2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Contract dedicated heavy-cargo regional carriers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2F2F2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Artigos de Natal (Christmas Items)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2F2F2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2F2F2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Implement seasonal pre-fulfillment stockpiling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2F2F2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Seguros e Serviços (Services)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2F2F2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2F2F2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Automate digital fulfillment validation SLAs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2F2F2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Ferramentas Jardim (Garden Tools)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2F2F2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13 Days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2F2F2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Optimize packaging density to lower freight cost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3" name="Google Shape;203;p22"/>
          <p:cNvSpPr/>
          <p:nvPr/>
        </p:nvSpPr>
        <p:spPr>
          <a:xfrm>
            <a:off x="576262" y="3519487"/>
            <a:ext cx="3367087" cy="9525"/>
          </a:xfrm>
          <a:prstGeom prst="rect">
            <a:avLst/>
          </a:prstGeom>
          <a:solidFill>
            <a:srgbClr val="D1CB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3943350" y="3519487"/>
            <a:ext cx="1912739" cy="9525"/>
          </a:xfrm>
          <a:prstGeom prst="rect">
            <a:avLst/>
          </a:prstGeom>
          <a:solidFill>
            <a:srgbClr val="D1CB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5856089" y="3519487"/>
            <a:ext cx="1306710" cy="9525"/>
          </a:xfrm>
          <a:prstGeom prst="rect">
            <a:avLst/>
          </a:prstGeom>
          <a:solidFill>
            <a:srgbClr val="D1CB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7162800" y="3519487"/>
            <a:ext cx="4452937" cy="9525"/>
          </a:xfrm>
          <a:prstGeom prst="rect">
            <a:avLst/>
          </a:prstGeom>
          <a:solidFill>
            <a:srgbClr val="D1CB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576262" y="4129087"/>
            <a:ext cx="3367087" cy="9525"/>
          </a:xfrm>
          <a:prstGeom prst="rect">
            <a:avLst/>
          </a:prstGeom>
          <a:solidFill>
            <a:srgbClr val="D1CB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3943350" y="4129087"/>
            <a:ext cx="1912739" cy="9525"/>
          </a:xfrm>
          <a:prstGeom prst="rect">
            <a:avLst/>
          </a:prstGeom>
          <a:solidFill>
            <a:srgbClr val="D1CB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5856089" y="4129087"/>
            <a:ext cx="1306710" cy="9525"/>
          </a:xfrm>
          <a:prstGeom prst="rect">
            <a:avLst/>
          </a:prstGeom>
          <a:solidFill>
            <a:srgbClr val="D1CB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7162800" y="4129087"/>
            <a:ext cx="4452937" cy="9525"/>
          </a:xfrm>
          <a:prstGeom prst="rect">
            <a:avLst/>
          </a:prstGeom>
          <a:solidFill>
            <a:srgbClr val="D1CB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576262" y="4738687"/>
            <a:ext cx="3367087" cy="9525"/>
          </a:xfrm>
          <a:prstGeom prst="rect">
            <a:avLst/>
          </a:prstGeom>
          <a:solidFill>
            <a:srgbClr val="D1CB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3943350" y="4738687"/>
            <a:ext cx="1912739" cy="9525"/>
          </a:xfrm>
          <a:prstGeom prst="rect">
            <a:avLst/>
          </a:prstGeom>
          <a:solidFill>
            <a:srgbClr val="D1CB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5856089" y="4738687"/>
            <a:ext cx="1306710" cy="9525"/>
          </a:xfrm>
          <a:prstGeom prst="rect">
            <a:avLst/>
          </a:prstGeom>
          <a:solidFill>
            <a:srgbClr val="D1CB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7162800" y="4738687"/>
            <a:ext cx="4452937" cy="9525"/>
          </a:xfrm>
          <a:prstGeom prst="rect">
            <a:avLst/>
          </a:prstGeom>
          <a:solidFill>
            <a:srgbClr val="D1CB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571500" y="523875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556B2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Fulfillment Lead Times by Category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"/>
          <p:cNvSpPr txBox="1"/>
          <p:nvPr/>
        </p:nvSpPr>
        <p:spPr>
          <a:xfrm>
            <a:off x="571500" y="571500"/>
            <a:ext cx="5550693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556B2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Integrated Commercial Insights</a:t>
            </a:r>
            <a:endParaRPr/>
          </a:p>
        </p:txBody>
      </p:sp>
      <p:pic>
        <p:nvPicPr>
          <p:cNvPr descr="image.png"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571500" y="205546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SP Delivery Paradox:</a:t>
            </a:r>
            <a:r>
              <a:rPr b="0" i="0" lang="en-US" sz="150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 São Paulo accounts for $5.2M in revenue but suffers from severe seller delays, directly causing order cancellations.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571500" y="324415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Bulky Item Margin Squeeze:</a:t>
            </a:r>
            <a:r>
              <a:rPr b="0" i="0" lang="en-US" sz="150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 Heavy categories like Office Furniture suffer 20-day transit times, driving up freight costs while lowering buyer NPS.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571500" y="443284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Peak Season Scalability:</a:t>
            </a:r>
            <a:r>
              <a:rPr b="0" i="0" lang="en-US" sz="150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 Q2 sales spikes (exceeding $1.5M/mo) bottleneck local logistics hubs, creating predictable delay clusters.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 txBox="1"/>
          <p:nvPr/>
        </p:nvSpPr>
        <p:spPr>
          <a:xfrm>
            <a:off x="2028825" y="2276475"/>
            <a:ext cx="85915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556B2F"/>
                </a:solidFill>
                <a:latin typeface="Lato"/>
                <a:ea typeface="Lato"/>
                <a:cs typeface="Lato"/>
                <a:sym typeface="Lato"/>
              </a:rPr>
              <a:t>Scale Top Category Sales:</a:t>
            </a:r>
            <a:r>
              <a:rPr b="0" i="0" lang="en-US" sz="1425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 Double down on Health/Beauty and Watches ($2.4M combined) through targeted merchant onboarding and featured marketplace placement.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2028825" y="3057525"/>
            <a:ext cx="85915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556B2F"/>
                </a:solidFill>
                <a:latin typeface="Lato"/>
                <a:ea typeface="Lato"/>
                <a:cs typeface="Lato"/>
                <a:sym typeface="Lato"/>
              </a:rPr>
              <a:t>Restructure Regional Freight:</a:t>
            </a:r>
            <a:r>
              <a:rPr b="0" i="0" lang="en-US" sz="1425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 Negotiate volume-discounted courier contracts in SP and RJ to reduce the 16.6% freight drag on gross revenue.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2028825" y="3838575"/>
            <a:ext cx="85915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556B2F"/>
                </a:solidFill>
                <a:latin typeface="Lato"/>
                <a:ea typeface="Lato"/>
                <a:cs typeface="Lato"/>
                <a:sym typeface="Lato"/>
              </a:rPr>
              <a:t>Establish Micro-Fulfillment Hubs:</a:t>
            </a:r>
            <a:r>
              <a:rPr b="0" i="0" lang="en-US" sz="1425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 Position local fulfillment centers in São Paulo to resolve the 9% delay bottleneck and reduce order cancellation rates.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2028825" y="4619625"/>
            <a:ext cx="85915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556B2F"/>
                </a:solidFill>
                <a:latin typeface="Lato"/>
                <a:ea typeface="Lato"/>
                <a:cs typeface="Lato"/>
                <a:sym typeface="Lato"/>
              </a:rPr>
              <a:t>Enforce Strict Seller SLAs:</a:t>
            </a:r>
            <a:r>
              <a:rPr b="0" i="0" lang="en-US" sz="1425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 Implement seller compliance thresholds for bulky items (e.g. Office Furniture) to maintain delivery SLAs under 14 days.</a:t>
            </a:r>
            <a:endParaRPr/>
          </a:p>
        </p:txBody>
      </p:sp>
      <p:pic>
        <p:nvPicPr>
          <p:cNvPr descr="image.png" id="233" name="Google Shape;2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1625" y="2290762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1625" y="3071812"/>
            <a:ext cx="3143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71625" y="3852862"/>
            <a:ext cx="3143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71625" y="4633912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 txBox="1"/>
          <p:nvPr/>
        </p:nvSpPr>
        <p:spPr>
          <a:xfrm>
            <a:off x="571500" y="523875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556B2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Strategic Action Recommendations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/>
        </p:nvSpPr>
        <p:spPr>
          <a:xfrm>
            <a:off x="2530554" y="2476500"/>
            <a:ext cx="7130891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556B2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Questions &amp; Discussion</a:t>
            </a:r>
            <a:endParaRPr/>
          </a:p>
        </p:txBody>
      </p:sp>
      <p:sp>
        <p:nvSpPr>
          <p:cNvPr id="243" name="Google Shape;243;p25"/>
          <p:cNvSpPr txBox="1"/>
          <p:nvPr/>
        </p:nvSpPr>
        <p:spPr>
          <a:xfrm>
            <a:off x="2700337" y="3476625"/>
            <a:ext cx="67913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56B2F"/>
                </a:solidFill>
                <a:latin typeface="Lato"/>
                <a:ea typeface="Lato"/>
                <a:cs typeface="Lato"/>
                <a:sym typeface="Lato"/>
              </a:rPr>
              <a:t>OLIST Brazilian E-Commerce BI Platform</a:t>
            </a:r>
            <a:endParaRPr/>
          </a:p>
        </p:txBody>
      </p:sp>
      <p:sp>
        <p:nvSpPr>
          <p:cNvPr id="244" name="Google Shape;244;p25"/>
          <p:cNvSpPr txBox="1"/>
          <p:nvPr/>
        </p:nvSpPr>
        <p:spPr>
          <a:xfrm>
            <a:off x="2700337" y="4152900"/>
            <a:ext cx="67913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8901F"/>
                </a:solidFill>
                <a:latin typeface="Lato"/>
                <a:ea typeface="Lato"/>
                <a:cs typeface="Lato"/>
                <a:sym typeface="Lato"/>
              </a:rPr>
              <a:t>PREPARED BY ENG. ISLAM AL-ZQAQY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A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6"/>
          <p:cNvSpPr/>
          <p:nvPr/>
        </p:nvSpPr>
        <p:spPr>
          <a:xfrm>
            <a:off x="571500" y="22145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6"/>
          <p:cNvSpPr/>
          <p:nvPr/>
        </p:nvSpPr>
        <p:spPr>
          <a:xfrm>
            <a:off x="571500" y="2986087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6"/>
          <p:cNvSpPr/>
          <p:nvPr/>
        </p:nvSpPr>
        <p:spPr>
          <a:xfrm>
            <a:off x="571500" y="39290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6"/>
          <p:cNvSpPr/>
          <p:nvPr/>
        </p:nvSpPr>
        <p:spPr>
          <a:xfrm>
            <a:off x="571500" y="29765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6"/>
          <p:cNvSpPr/>
          <p:nvPr/>
        </p:nvSpPr>
        <p:spPr>
          <a:xfrm>
            <a:off x="571500" y="29765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/>
          <p:nvPr/>
        </p:nvSpPr>
        <p:spPr>
          <a:xfrm>
            <a:off x="571500" y="39195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6"/>
          <p:cNvSpPr/>
          <p:nvPr/>
        </p:nvSpPr>
        <p:spPr>
          <a:xfrm>
            <a:off x="571500" y="39195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6"/>
          <p:cNvSpPr/>
          <p:nvPr/>
        </p:nvSpPr>
        <p:spPr>
          <a:xfrm>
            <a:off x="571500" y="46910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6"/>
          <p:cNvSpPr/>
          <p:nvPr/>
        </p:nvSpPr>
        <p:spPr>
          <a:xfrm>
            <a:off x="571500" y="46910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574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6"/>
          <p:cNvSpPr txBox="1"/>
          <p:nvPr/>
        </p:nvSpPr>
        <p:spPr>
          <a:xfrm>
            <a:off x="1666875" y="23645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https://deliveringdataanalytics.com/wp-content/uploads/2024/03/1-Dashboard-Overview-Tab-1024x576.jpg</a:t>
            </a:r>
            <a:endParaRPr/>
          </a:p>
        </p:txBody>
      </p:sp>
      <p:sp>
        <p:nvSpPr>
          <p:cNvPr id="260" name="Google Shape;260;p26"/>
          <p:cNvSpPr txBox="1"/>
          <p:nvPr/>
        </p:nvSpPr>
        <p:spPr>
          <a:xfrm>
            <a:off x="1666875" y="25979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deliveringdataanalytics.com</a:t>
            </a:r>
            <a:endParaRPr/>
          </a:p>
        </p:txBody>
      </p:sp>
      <p:pic>
        <p:nvPicPr>
          <p:cNvPr descr="image.png" id="261" name="Google Shape;26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146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 txBox="1"/>
          <p:nvPr/>
        </p:nvSpPr>
        <p:spPr>
          <a:xfrm>
            <a:off x="1666875" y="3128962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https://cart.com/hs-fs/hubfs/services_360%20managed%20commerce.jpg?width=1080&amp;height=1080&amp;upsize=true&amp;upscale=true&amp;name=services_360%20managed%20commerce.jpg</a:t>
            </a:r>
            <a:endParaRPr/>
          </a:p>
        </p:txBody>
      </p:sp>
      <p:sp>
        <p:nvSpPr>
          <p:cNvPr id="263" name="Google Shape;263;p26"/>
          <p:cNvSpPr txBox="1"/>
          <p:nvPr/>
        </p:nvSpPr>
        <p:spPr>
          <a:xfrm>
            <a:off x="1666875" y="3548062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cart.com</a:t>
            </a:r>
            <a:endParaRPr/>
          </a:p>
        </p:txBody>
      </p:sp>
      <p:pic>
        <p:nvPicPr>
          <p:cNvPr descr="image.png" id="264" name="Google Shape;26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719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6"/>
          <p:cNvSpPr txBox="1"/>
          <p:nvPr/>
        </p:nvSpPr>
        <p:spPr>
          <a:xfrm>
            <a:off x="1666875" y="40790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https://truckguru.co.in/blog/wp-content/uploads/2026/03/Gemini_Generated_Imtruckguru.png</a:t>
            </a:r>
            <a:endParaRPr/>
          </a:p>
        </p:txBody>
      </p:sp>
      <p:sp>
        <p:nvSpPr>
          <p:cNvPr id="266" name="Google Shape;266;p26"/>
          <p:cNvSpPr txBox="1"/>
          <p:nvPr/>
        </p:nvSpPr>
        <p:spPr>
          <a:xfrm>
            <a:off x="1666875" y="43124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truckguru.co.in</a:t>
            </a:r>
            <a:endParaRPr/>
          </a:p>
        </p:txBody>
      </p:sp>
      <p:pic>
        <p:nvPicPr>
          <p:cNvPr descr="image.png" id="267" name="Google Shape;267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8434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6"/>
          <p:cNvSpPr txBox="1"/>
          <p:nvPr/>
        </p:nvSpPr>
        <p:spPr>
          <a:xfrm>
            <a:off x="1666875" y="48506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https://tensionautomation.com/wp-content/uploads/2024/06/iStock-2150292204-1200x675.jpg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1666875" y="50839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F2F2F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tensionautomation.com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571500" y="523875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556B2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