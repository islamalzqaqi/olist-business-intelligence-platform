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y="6858000" cx="12192000"/>
  <p:notesSz cx="6858000" cy="9144000"/>
  <p:embeddedFontLst>
    <p:embeddedFont>
      <p:font typeface="Quattrocento Sans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4B3DDB1-13C6-4B1C-B614-515D47965E8A}">
  <a:tblStyle styleId="{B4B3DDB1-13C6-4B1C-B614-515D47965E8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QuattrocentoSans-bold.fntdata"/><Relationship Id="rId30" Type="http://schemas.openxmlformats.org/officeDocument/2006/relationships/font" Target="fonts/QuattrocentoSans-regular.fntdata"/><Relationship Id="rId11" Type="http://schemas.openxmlformats.org/officeDocument/2006/relationships/slide" Target="slides/slide5.xml"/><Relationship Id="rId33" Type="http://schemas.openxmlformats.org/officeDocument/2006/relationships/font" Target="fonts/QuattrocentoSans-boldItalic.fntdata"/><Relationship Id="rId10" Type="http://schemas.openxmlformats.org/officeDocument/2006/relationships/slide" Target="slides/slide4.xml"/><Relationship Id="rId32" Type="http://schemas.openxmlformats.org/officeDocument/2006/relationships/font" Target="fonts/QuattrocentoSans-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7" name="Google Shape;637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11" Type="http://schemas.openxmlformats.org/officeDocument/2006/relationships/image" Target="../media/image18.png"/><Relationship Id="rId10" Type="http://schemas.openxmlformats.org/officeDocument/2006/relationships/image" Target="../media/image17.png"/><Relationship Id="rId9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9.png"/><Relationship Id="rId7" Type="http://schemas.openxmlformats.org/officeDocument/2006/relationships/image" Target="../media/image13.png"/><Relationship Id="rId8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9" Type="http://schemas.openxmlformats.org/officeDocument/2006/relationships/image" Target="../media/image33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8.png"/><Relationship Id="rId8" Type="http://schemas.openxmlformats.org/officeDocument/2006/relationships/image" Target="../media/image2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11" Type="http://schemas.openxmlformats.org/officeDocument/2006/relationships/image" Target="../media/image20.png"/><Relationship Id="rId10" Type="http://schemas.openxmlformats.org/officeDocument/2006/relationships/image" Target="../media/image27.png"/><Relationship Id="rId9" Type="http://schemas.openxmlformats.org/officeDocument/2006/relationships/image" Target="../media/image26.png"/><Relationship Id="rId5" Type="http://schemas.openxmlformats.org/officeDocument/2006/relationships/image" Target="../media/image21.png"/><Relationship Id="rId6" Type="http://schemas.openxmlformats.org/officeDocument/2006/relationships/image" Target="../media/image16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9.png"/><Relationship Id="rId6" Type="http://schemas.openxmlformats.org/officeDocument/2006/relationships/image" Target="../media/image32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34.png"/><Relationship Id="rId10" Type="http://schemas.openxmlformats.org/officeDocument/2006/relationships/image" Target="../media/image31.png"/><Relationship Id="rId13" Type="http://schemas.openxmlformats.org/officeDocument/2006/relationships/image" Target="../media/image35.png"/><Relationship Id="rId1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9" Type="http://schemas.openxmlformats.org/officeDocument/2006/relationships/image" Target="../media/image38.png"/><Relationship Id="rId15" Type="http://schemas.openxmlformats.org/officeDocument/2006/relationships/image" Target="../media/image47.png"/><Relationship Id="rId14" Type="http://schemas.openxmlformats.org/officeDocument/2006/relationships/image" Target="../media/image36.png"/><Relationship Id="rId16" Type="http://schemas.openxmlformats.org/officeDocument/2006/relationships/image" Target="../media/image37.png"/><Relationship Id="rId5" Type="http://schemas.openxmlformats.org/officeDocument/2006/relationships/image" Target="../media/image24.png"/><Relationship Id="rId6" Type="http://schemas.openxmlformats.org/officeDocument/2006/relationships/image" Target="../media/image30.png"/><Relationship Id="rId7" Type="http://schemas.openxmlformats.org/officeDocument/2006/relationships/image" Target="../media/image39.png"/><Relationship Id="rId8" Type="http://schemas.openxmlformats.org/officeDocument/2006/relationships/image" Target="../media/image28.png"/></Relationships>
</file>

<file path=ppt/slides/_rels/slide7.xml.rels><?xml version="1.0" encoding="UTF-8" standalone="yes"?><Relationships xmlns="http://schemas.openxmlformats.org/package/2006/relationships"><Relationship Id="rId10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9" Type="http://schemas.openxmlformats.org/officeDocument/2006/relationships/image" Target="../media/image43.png"/><Relationship Id="rId5" Type="http://schemas.openxmlformats.org/officeDocument/2006/relationships/image" Target="../media/image40.png"/><Relationship Id="rId6" Type="http://schemas.openxmlformats.org/officeDocument/2006/relationships/image" Target="../media/image46.png"/><Relationship Id="rId7" Type="http://schemas.openxmlformats.org/officeDocument/2006/relationships/image" Target="../media/image52.png"/><Relationship Id="rId8" Type="http://schemas.openxmlformats.org/officeDocument/2006/relationships/image" Target="../media/image5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41.png"/><Relationship Id="rId5" Type="http://schemas.openxmlformats.org/officeDocument/2006/relationships/image" Target="../media/image50.png"/><Relationship Id="rId6" Type="http://schemas.openxmlformats.org/officeDocument/2006/relationships/image" Target="../media/image53.png"/><Relationship Id="rId7" Type="http://schemas.openxmlformats.org/officeDocument/2006/relationships/image" Target="../media/image4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56.png"/><Relationship Id="rId5" Type="http://schemas.openxmlformats.org/officeDocument/2006/relationships/image" Target="../media/image49.png"/><Relationship Id="rId6" Type="http://schemas.openxmlformats.org/officeDocument/2006/relationships/image" Target="../media/image48.png"/><Relationship Id="rId7" Type="http://schemas.openxmlformats.org/officeDocument/2006/relationships/image" Target="../media/image76.png"/><Relationship Id="rId8" Type="http://schemas.openxmlformats.org/officeDocument/2006/relationships/image" Target="../media/image6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54.png"/><Relationship Id="rId9" Type="http://schemas.openxmlformats.org/officeDocument/2006/relationships/image" Target="../media/image60.png"/><Relationship Id="rId5" Type="http://schemas.openxmlformats.org/officeDocument/2006/relationships/image" Target="../media/image62.png"/><Relationship Id="rId6" Type="http://schemas.openxmlformats.org/officeDocument/2006/relationships/image" Target="../media/image55.png"/><Relationship Id="rId7" Type="http://schemas.openxmlformats.org/officeDocument/2006/relationships/image" Target="../media/image64.png"/><Relationship Id="rId8" Type="http://schemas.openxmlformats.org/officeDocument/2006/relationships/image" Target="../media/image5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65.png"/><Relationship Id="rId6" Type="http://schemas.openxmlformats.org/officeDocument/2006/relationships/image" Target="../media/image46.png"/><Relationship Id="rId7" Type="http://schemas.openxmlformats.org/officeDocument/2006/relationships/image" Target="../media/image61.png"/><Relationship Id="rId8" Type="http://schemas.openxmlformats.org/officeDocument/2006/relationships/image" Target="../media/image6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66.png"/><Relationship Id="rId6" Type="http://schemas.openxmlformats.org/officeDocument/2006/relationships/image" Target="../media/image46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71.png"/><Relationship Id="rId6" Type="http://schemas.openxmlformats.org/officeDocument/2006/relationships/image" Target="../media/image84.png"/><Relationship Id="rId7" Type="http://schemas.openxmlformats.org/officeDocument/2006/relationships/image" Target="../media/image81.png"/><Relationship Id="rId8" Type="http://schemas.openxmlformats.org/officeDocument/2006/relationships/image" Target="../media/image6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70.png"/><Relationship Id="rId6" Type="http://schemas.openxmlformats.org/officeDocument/2006/relationships/image" Target="../media/image6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3.png"/><Relationship Id="rId4" Type="http://schemas.openxmlformats.org/officeDocument/2006/relationships/image" Target="../media/image7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56.png"/><Relationship Id="rId5" Type="http://schemas.openxmlformats.org/officeDocument/2006/relationships/image" Target="../media/image49.png"/><Relationship Id="rId6" Type="http://schemas.openxmlformats.org/officeDocument/2006/relationships/image" Target="../media/image80.png"/><Relationship Id="rId7" Type="http://schemas.openxmlformats.org/officeDocument/2006/relationships/image" Target="../media/image74.png"/><Relationship Id="rId8" Type="http://schemas.openxmlformats.org/officeDocument/2006/relationships/image" Target="../media/image7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54.png"/><Relationship Id="rId9" Type="http://schemas.openxmlformats.org/officeDocument/2006/relationships/image" Target="../media/image79.png"/><Relationship Id="rId5" Type="http://schemas.openxmlformats.org/officeDocument/2006/relationships/image" Target="../media/image62.png"/><Relationship Id="rId6" Type="http://schemas.openxmlformats.org/officeDocument/2006/relationships/image" Target="../media/image55.png"/><Relationship Id="rId7" Type="http://schemas.openxmlformats.org/officeDocument/2006/relationships/image" Target="../media/image78.png"/><Relationship Id="rId8" Type="http://schemas.openxmlformats.org/officeDocument/2006/relationships/image" Target="../media/image5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77.png"/><Relationship Id="rId6" Type="http://schemas.openxmlformats.org/officeDocument/2006/relationships/image" Target="../media/image46.png"/><Relationship Id="rId7" Type="http://schemas.openxmlformats.org/officeDocument/2006/relationships/image" Target="../media/image82.png"/><Relationship Id="rId8" Type="http://schemas.openxmlformats.org/officeDocument/2006/relationships/image" Target="../media/image2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8.png"/><Relationship Id="rId6" Type="http://schemas.openxmlformats.org/officeDocument/2006/relationships/image" Target="../media/image46.png"/><Relationship Id="rId7" Type="http://schemas.openxmlformats.org/officeDocument/2006/relationships/image" Target="../media/image86.png"/><Relationship Id="rId8" Type="http://schemas.openxmlformats.org/officeDocument/2006/relationships/image" Target="../media/image8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9" Type="http://schemas.openxmlformats.org/officeDocument/2006/relationships/image" Target="../media/image83.png"/><Relationship Id="rId5" Type="http://schemas.openxmlformats.org/officeDocument/2006/relationships/image" Target="../media/image90.png"/><Relationship Id="rId6" Type="http://schemas.openxmlformats.org/officeDocument/2006/relationships/image" Target="../media/image12.png"/><Relationship Id="rId7" Type="http://schemas.openxmlformats.org/officeDocument/2006/relationships/image" Target="../media/image89.png"/><Relationship Id="rId8" Type="http://schemas.openxmlformats.org/officeDocument/2006/relationships/image" Target="../media/image8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70.png"/><Relationship Id="rId6" Type="http://schemas.openxmlformats.org/officeDocument/2006/relationships/image" Target="../media/image9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Relationship Id="rId4" Type="http://schemas.openxmlformats.org/officeDocument/2006/relationships/image" Target="../media/image4.png"/><Relationship Id="rId5" Type="http://schemas.openxmlformats.org/officeDocument/2006/relationships/image" Target="../media/image98.png"/><Relationship Id="rId6" Type="http://schemas.openxmlformats.org/officeDocument/2006/relationships/image" Target="../media/image94.png"/><Relationship Id="rId7" Type="http://schemas.openxmlformats.org/officeDocument/2006/relationships/image" Target="../media/image9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Relationship Id="rId4" Type="http://schemas.openxmlformats.org/officeDocument/2006/relationships/image" Target="../media/image97.png"/><Relationship Id="rId5" Type="http://schemas.openxmlformats.org/officeDocument/2006/relationships/image" Target="../media/image96.png"/><Relationship Id="rId6" Type="http://schemas.openxmlformats.org/officeDocument/2006/relationships/image" Target="../media/image93.png"/><Relationship Id="rId7" Type="http://schemas.openxmlformats.org/officeDocument/2006/relationships/image" Target="../media/image9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5614987"/>
            <a:ext cx="5181600" cy="7858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7" name="Google Shape;87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8" name="Google Shape;88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57200" y="457200"/>
            <a:ext cx="2630239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 txBox="1"/>
          <p:nvPr/>
        </p:nvSpPr>
        <p:spPr>
          <a:xfrm>
            <a:off x="457200" y="952500"/>
            <a:ext cx="5440680" cy="1173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OLIST Business Intelligence Platform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457200" y="2278260"/>
            <a:ext cx="51816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Sales Analytics &amp; Supply Chain Control Tower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457200" y="2821185"/>
            <a:ext cx="51816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 integrated executive intelligence system harmonizing e-commerce growth, customer acquisition, and fulfillment logistics across Brazil.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457200" y="5815012"/>
            <a:ext cx="5181600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CBD5E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PREPARED FOR: CEO &amp; Executive Committee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457200" y="6115050"/>
            <a:ext cx="51816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Analytics Portfolio Engagement | Brazil E-Commerce Operations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8" name="Google Shape;9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9" name="Google Shape;99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86425"/>
            <a:ext cx="11125200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1171575"/>
            <a:ext cx="2638425" cy="13696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62325" y="1171575"/>
            <a:ext cx="2638425" cy="13696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91250" y="1171575"/>
            <a:ext cx="2638425" cy="13696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020175" y="1171575"/>
            <a:ext cx="2638425" cy="13696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3400" y="2769840"/>
            <a:ext cx="5391150" cy="27641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267450" y="2769840"/>
            <a:ext cx="5391150" cy="2764184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Executive Summary</a:t>
            </a:r>
            <a:endParaRPr/>
          </a:p>
        </p:txBody>
      </p:sp>
      <p:sp>
        <p:nvSpPr>
          <p:cNvPr id="107" name="Google Shape;107;p14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08" name="Google Shape;108;p1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747944" y="514350"/>
            <a:ext cx="1910655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947737" y="5848350"/>
            <a:ext cx="11036379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MANDATE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762000" y="6038850"/>
            <a:ext cx="106965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Establish a unified SP Logistics Hub to optimize seller dispatch SLAs while executing targeted retention campaigns in high-AOV product categories.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733425" y="137160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REVENUE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733425" y="1590675"/>
            <a:ext cx="2238375" cy="3981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$15.8M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733425" y="2064990"/>
            <a:ext cx="223837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99.4K Orders | $159 AOV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3562350" y="137160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ON-TIME SLA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3562350" y="1590675"/>
            <a:ext cx="2238375" cy="3981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92.4%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3562350" y="2064990"/>
            <a:ext cx="223837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7.6% Late Deliveries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6391275" y="137160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FREIGHT EXPENSE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6391275" y="1590675"/>
            <a:ext cx="2238375" cy="3981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$2.25M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6391275" y="2064990"/>
            <a:ext cx="223837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14.2% of Total GMV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9220200" y="1371600"/>
            <a:ext cx="22383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 CANCELLATION BOTTLENECK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9220200" y="1733550"/>
            <a:ext cx="2238375" cy="3981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1.8%</a:t>
            </a:r>
            <a:endParaRPr/>
          </a:p>
        </p:txBody>
      </p:sp>
      <p:sp>
        <p:nvSpPr>
          <p:cNvPr id="122" name="Google Shape;122;p14"/>
          <p:cNvSpPr txBox="1"/>
          <p:nvPr/>
        </p:nvSpPr>
        <p:spPr>
          <a:xfrm>
            <a:off x="9220200" y="2207865"/>
            <a:ext cx="223837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42% Concentrated in SP</a:t>
            </a:r>
            <a:endParaRPr/>
          </a:p>
        </p:txBody>
      </p:sp>
      <p:sp>
        <p:nvSpPr>
          <p:cNvPr id="123" name="Google Shape;123;p14"/>
          <p:cNvSpPr txBox="1"/>
          <p:nvPr/>
        </p:nvSpPr>
        <p:spPr>
          <a:xfrm>
            <a:off x="800100" y="3007965"/>
            <a:ext cx="5130641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Core Commercial Insights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6534150" y="3007965"/>
            <a:ext cx="5130641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Core Operational Insights</a:t>
            </a:r>
            <a:endParaRPr/>
          </a:p>
        </p:txBody>
      </p:sp>
      <p:pic>
        <p:nvPicPr>
          <p:cNvPr descr="image.png" id="125" name="Google Shape;125;p1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62000" y="5857875"/>
            <a:ext cx="109537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4"/>
          <p:cNvSpPr txBox="1"/>
          <p:nvPr/>
        </p:nvSpPr>
        <p:spPr>
          <a:xfrm>
            <a:off x="1028700" y="3350865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Market Dominance: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Top 3 states (SP, RJ, MG) generate </a:t>
            </a: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65% of total revenue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($10.3M), driven primarily by Health &amp; Beauty and Watches.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1028700" y="3893790"/>
            <a:ext cx="4657725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AOV &amp; Retention Deficit: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Customer repeat rate remains under </a:t>
            </a: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 signaling an acquisition-heavy model with uncaptured customer lifetime value.</a:t>
            </a:r>
            <a:endParaRPr/>
          </a:p>
        </p:txBody>
      </p:sp>
      <p:sp>
        <p:nvSpPr>
          <p:cNvPr id="128" name="Google Shape;128;p14"/>
          <p:cNvSpPr txBox="1"/>
          <p:nvPr/>
        </p:nvSpPr>
        <p:spPr>
          <a:xfrm>
            <a:off x="6762750" y="3350865"/>
            <a:ext cx="4657725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São Paulo Bottleneck: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SP accounts for the highest seller delays (11.2 days avg dispatch) and correlates directly with </a:t>
            </a: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42% of total order cancellations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</a:t>
            </a:r>
            <a:endParaRPr/>
          </a:p>
        </p:txBody>
      </p:sp>
      <p:sp>
        <p:nvSpPr>
          <p:cNvPr id="129" name="Google Shape;129;p14"/>
          <p:cNvSpPr txBox="1"/>
          <p:nvPr/>
        </p:nvSpPr>
        <p:spPr>
          <a:xfrm>
            <a:off x="6762750" y="4108102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Freight Efficiency Gap: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Freight cost averages </a:t>
            </a: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$22.6/order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in remote regions (N/NE) vs $15.1 in SE, eroding seller margin parity.</a:t>
            </a:r>
            <a:endParaRPr/>
          </a:p>
        </p:txBody>
      </p:sp>
      <p:sp>
        <p:nvSpPr>
          <p:cNvPr id="130" name="Google Shape;130;p14"/>
          <p:cNvSpPr txBox="1"/>
          <p:nvPr/>
        </p:nvSpPr>
        <p:spPr>
          <a:xfrm>
            <a:off x="800100" y="336991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131" name="Google Shape;131;p14"/>
          <p:cNvSpPr txBox="1"/>
          <p:nvPr/>
        </p:nvSpPr>
        <p:spPr>
          <a:xfrm>
            <a:off x="800100" y="391284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132" name="Google Shape;132;p14"/>
          <p:cNvSpPr txBox="1"/>
          <p:nvPr/>
        </p:nvSpPr>
        <p:spPr>
          <a:xfrm>
            <a:off x="6534150" y="336991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133" name="Google Shape;133;p14"/>
          <p:cNvSpPr txBox="1"/>
          <p:nvPr/>
        </p:nvSpPr>
        <p:spPr>
          <a:xfrm>
            <a:off x="6534150" y="4127152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8" name="Google Shape;13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86425"/>
            <a:ext cx="11125200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0" name="Google Shape;140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1171575"/>
            <a:ext cx="5391150" cy="432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1" name="Google Shape;141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67450" y="1171575"/>
            <a:ext cx="5391150" cy="432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2" name="Google Shape;142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96050" y="2438400"/>
            <a:ext cx="4933950" cy="1042987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5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Business Context &amp; Platform Architecture</a:t>
            </a:r>
            <a:endParaRPr/>
          </a:p>
        </p:txBody>
      </p:sp>
      <p:sp>
        <p:nvSpPr>
          <p:cNvPr id="144" name="Google Shape;144;p15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45" name="Google Shape;145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719196" y="514350"/>
            <a:ext cx="939403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5"/>
          <p:cNvSpPr txBox="1"/>
          <p:nvPr/>
        </p:nvSpPr>
        <p:spPr>
          <a:xfrm>
            <a:off x="976312" y="5848350"/>
            <a:ext cx="110063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PARADIGM SHIFT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762000" y="6038850"/>
            <a:ext cx="106965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Transitioning OLIST from a reactive transactional marketplace into a proactive data-driven supply chain &amp; commercial platform.</a:t>
            </a:r>
            <a:endParaRPr/>
          </a:p>
        </p:txBody>
      </p:sp>
      <p:sp>
        <p:nvSpPr>
          <p:cNvPr id="148" name="Google Shape;148;p15"/>
          <p:cNvSpPr txBox="1"/>
          <p:nvPr/>
        </p:nvSpPr>
        <p:spPr>
          <a:xfrm>
            <a:off x="771525" y="1409700"/>
            <a:ext cx="5160645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The OLIST E-Commerce Ecosystem</a:t>
            </a:r>
            <a:endParaRPr/>
          </a:p>
        </p:txBody>
      </p:sp>
      <p:sp>
        <p:nvSpPr>
          <p:cNvPr id="149" name="Google Shape;149;p15"/>
          <p:cNvSpPr txBox="1"/>
          <p:nvPr/>
        </p:nvSpPr>
        <p:spPr>
          <a:xfrm>
            <a:off x="771525" y="1752600"/>
            <a:ext cx="4914900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OLIST operates as Brazil's leading marketplace integrator, connecting small-and-medium businesses (SMB sellers) to major nationwide marketplace channels.</a:t>
            </a:r>
            <a:endParaRPr/>
          </a:p>
        </p:txBody>
      </p:sp>
      <p:sp>
        <p:nvSpPr>
          <p:cNvPr id="150" name="Google Shape;150;p15"/>
          <p:cNvSpPr txBox="1"/>
          <p:nvPr/>
        </p:nvSpPr>
        <p:spPr>
          <a:xfrm>
            <a:off x="6496050" y="1400175"/>
            <a:ext cx="518064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Why Unified Analytics is Mission-Critical</a:t>
            </a:r>
            <a:endParaRPr/>
          </a:p>
        </p:txBody>
      </p:sp>
      <p:sp>
        <p:nvSpPr>
          <p:cNvPr id="151" name="Google Shape;151;p15"/>
          <p:cNvSpPr txBox="1"/>
          <p:nvPr/>
        </p:nvSpPr>
        <p:spPr>
          <a:xfrm>
            <a:off x="6496050" y="1743075"/>
            <a:ext cx="49339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Analyzing Sales in isolation creates blind spots. Commercial growth without operational capacity leads to churn and margin erosion.</a:t>
            </a:r>
            <a:endParaRPr/>
          </a:p>
        </p:txBody>
      </p:sp>
      <p:pic>
        <p:nvPicPr>
          <p:cNvPr descr="image.png" id="152" name="Google Shape;152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5857875"/>
            <a:ext cx="138112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5"/>
          <p:cNvSpPr txBox="1"/>
          <p:nvPr/>
        </p:nvSpPr>
        <p:spPr>
          <a:xfrm>
            <a:off x="1000125" y="2624137"/>
            <a:ext cx="46863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Multi-Tenant Marketplace: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Thousands of independent sellers utilizing unified catalog &amp; logistics.</a:t>
            </a:r>
            <a:endParaRPr/>
          </a:p>
        </p:txBody>
      </p:sp>
      <p:sp>
        <p:nvSpPr>
          <p:cNvPr id="154" name="Google Shape;154;p15"/>
          <p:cNvSpPr txBox="1"/>
          <p:nvPr/>
        </p:nvSpPr>
        <p:spPr>
          <a:xfrm>
            <a:off x="1000125" y="3167062"/>
            <a:ext cx="46863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Geographic Footprint: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Spans 27 Brazilian states with complex cross-continental logistics hurdles.</a:t>
            </a:r>
            <a:endParaRPr/>
          </a:p>
        </p:txBody>
      </p:sp>
      <p:sp>
        <p:nvSpPr>
          <p:cNvPr id="155" name="Google Shape;155;p15"/>
          <p:cNvSpPr txBox="1"/>
          <p:nvPr/>
        </p:nvSpPr>
        <p:spPr>
          <a:xfrm>
            <a:off x="1000125" y="3709987"/>
            <a:ext cx="46863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Customer Expectation: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Demand for fast, transparent fulfillment vs legacy logistics bottlenecks.</a:t>
            </a:r>
            <a:endParaRPr/>
          </a:p>
        </p:txBody>
      </p:sp>
      <p:sp>
        <p:nvSpPr>
          <p:cNvPr id="156" name="Google Shape;156;p15"/>
          <p:cNvSpPr txBox="1"/>
          <p:nvPr/>
        </p:nvSpPr>
        <p:spPr>
          <a:xfrm>
            <a:off x="6648450" y="2590800"/>
            <a:ext cx="4629150" cy="214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Sales Growth × Operational Excellence = Sustainable Scale</a:t>
            </a:r>
            <a:endParaRPr/>
          </a:p>
        </p:txBody>
      </p:sp>
      <p:sp>
        <p:nvSpPr>
          <p:cNvPr id="157" name="Google Shape;157;p15"/>
          <p:cNvSpPr txBox="1"/>
          <p:nvPr/>
        </p:nvSpPr>
        <p:spPr>
          <a:xfrm>
            <a:off x="6648450" y="2843212"/>
            <a:ext cx="46291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This BI Platform merges 100K+ transactional order facts with seller logistics tracking into a single executive control tower.</a:t>
            </a:r>
            <a:endParaRPr/>
          </a:p>
        </p:txBody>
      </p:sp>
      <p:sp>
        <p:nvSpPr>
          <p:cNvPr id="158" name="Google Shape;158;p15"/>
          <p:cNvSpPr txBox="1"/>
          <p:nvPr/>
        </p:nvSpPr>
        <p:spPr>
          <a:xfrm>
            <a:off x="771525" y="2643187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159" name="Google Shape;159;p15"/>
          <p:cNvSpPr txBox="1"/>
          <p:nvPr/>
        </p:nvSpPr>
        <p:spPr>
          <a:xfrm>
            <a:off x="771525" y="3186112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160" name="Google Shape;160;p15"/>
          <p:cNvSpPr txBox="1"/>
          <p:nvPr/>
        </p:nvSpPr>
        <p:spPr>
          <a:xfrm>
            <a:off x="771525" y="3729037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5" name="Google Shape;16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3533775"/>
            <a:ext cx="11125200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1171575"/>
            <a:ext cx="2638425" cy="2133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8" name="Google Shape;16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62325" y="1171575"/>
            <a:ext cx="2638425" cy="2133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9" name="Google Shape;169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250" y="1171575"/>
            <a:ext cx="2638425" cy="2133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0" name="Google Shape;170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020175" y="1171575"/>
            <a:ext cx="2638425" cy="213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6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Core Business Challenges</a:t>
            </a:r>
            <a:endParaRPr/>
          </a:p>
        </p:txBody>
      </p:sp>
      <p:sp>
        <p:nvSpPr>
          <p:cNvPr id="172" name="Google Shape;172;p16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73" name="Google Shape;173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776221" y="514350"/>
            <a:ext cx="1882378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6"/>
          <p:cNvSpPr txBox="1"/>
          <p:nvPr/>
        </p:nvSpPr>
        <p:spPr>
          <a:xfrm>
            <a:off x="976312" y="3695700"/>
            <a:ext cx="110063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IMPACT</a:t>
            </a:r>
            <a:endParaRPr/>
          </a:p>
        </p:txBody>
      </p:sp>
      <p:sp>
        <p:nvSpPr>
          <p:cNvPr id="175" name="Google Shape;175;p16"/>
          <p:cNvSpPr txBox="1"/>
          <p:nvPr/>
        </p:nvSpPr>
        <p:spPr>
          <a:xfrm>
            <a:off x="762000" y="3886200"/>
            <a:ext cx="106965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Uncoordinated logistics seller SLAs directly undermine marketing spend, leading to customer churn in top revenue-generating regions like São Paulo and Rio de Janeiro.</a:t>
            </a:r>
            <a:endParaRPr/>
          </a:p>
        </p:txBody>
      </p:sp>
      <p:sp>
        <p:nvSpPr>
          <p:cNvPr id="176" name="Google Shape;176;p16"/>
          <p:cNvSpPr txBox="1"/>
          <p:nvPr/>
        </p:nvSpPr>
        <p:spPr>
          <a:xfrm>
            <a:off x="800100" y="1524000"/>
            <a:ext cx="224028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Revenue Stagnation</a:t>
            </a:r>
            <a:endParaRPr/>
          </a:p>
        </p:txBody>
      </p:sp>
      <p:sp>
        <p:nvSpPr>
          <p:cNvPr id="177" name="Google Shape;177;p16"/>
          <p:cNvSpPr txBox="1"/>
          <p:nvPr/>
        </p:nvSpPr>
        <p:spPr>
          <a:xfrm>
            <a:off x="800100" y="1866900"/>
            <a:ext cx="2133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High reliance on single transactions with low customer repeat purchase rate (&lt; 3.1%) inflating CAC.</a:t>
            </a:r>
            <a:endParaRPr/>
          </a:p>
        </p:txBody>
      </p:sp>
      <p:pic>
        <p:nvPicPr>
          <p:cNvPr descr="image.png" id="178" name="Google Shape;178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629025" y="1409700"/>
            <a:ext cx="2133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6"/>
          <p:cNvSpPr txBox="1"/>
          <p:nvPr/>
        </p:nvSpPr>
        <p:spPr>
          <a:xfrm>
            <a:off x="3629025" y="1752600"/>
            <a:ext cx="224028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Fulfillment Delays</a:t>
            </a:r>
            <a:endParaRPr/>
          </a:p>
        </p:txBody>
      </p:sp>
      <p:sp>
        <p:nvSpPr>
          <p:cNvPr id="180" name="Google Shape;180;p16"/>
          <p:cNvSpPr txBox="1"/>
          <p:nvPr/>
        </p:nvSpPr>
        <p:spPr>
          <a:xfrm>
            <a:off x="3629025" y="2095500"/>
            <a:ext cx="2133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7.6% of orders breach promised SLA delivery dates, damaging brand reputation and seller ratings.</a:t>
            </a:r>
            <a:endParaRPr/>
          </a:p>
        </p:txBody>
      </p:sp>
      <p:pic>
        <p:nvPicPr>
          <p:cNvPr descr="image.png" id="181" name="Google Shape;181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57950" y="1409700"/>
            <a:ext cx="2133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6"/>
          <p:cNvSpPr txBox="1"/>
          <p:nvPr/>
        </p:nvSpPr>
        <p:spPr>
          <a:xfrm>
            <a:off x="6457950" y="1752600"/>
            <a:ext cx="224028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Freight Cost Friction</a:t>
            </a:r>
            <a:endParaRPr/>
          </a:p>
        </p:txBody>
      </p:sp>
      <p:sp>
        <p:nvSpPr>
          <p:cNvPr id="183" name="Google Shape;183;p16"/>
          <p:cNvSpPr txBox="1"/>
          <p:nvPr/>
        </p:nvSpPr>
        <p:spPr>
          <a:xfrm>
            <a:off x="6457950" y="2095500"/>
            <a:ext cx="2133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Freight expenditures consume over 14.2% of gross merchant value (GMV), squeezing SMB profit margins.</a:t>
            </a:r>
            <a:endParaRPr/>
          </a:p>
        </p:txBody>
      </p:sp>
      <p:pic>
        <p:nvPicPr>
          <p:cNvPr descr="image.png" id="184" name="Google Shape;184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286875" y="1409700"/>
            <a:ext cx="2133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6"/>
          <p:cNvSpPr txBox="1"/>
          <p:nvPr/>
        </p:nvSpPr>
        <p:spPr>
          <a:xfrm>
            <a:off x="9286875" y="1752600"/>
            <a:ext cx="224028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High Cancellations</a:t>
            </a:r>
            <a:endParaRPr/>
          </a:p>
        </p:txBody>
      </p:sp>
      <p:sp>
        <p:nvSpPr>
          <p:cNvPr id="186" name="Google Shape;186;p16"/>
          <p:cNvSpPr txBox="1"/>
          <p:nvPr/>
        </p:nvSpPr>
        <p:spPr>
          <a:xfrm>
            <a:off x="9286875" y="2095500"/>
            <a:ext cx="2133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1,780+ canceled orders per year, heavily clustered around seller dispatch bottlenecks in key metro hubs.</a:t>
            </a:r>
            <a:endParaRPr/>
          </a:p>
        </p:txBody>
      </p:sp>
      <p:pic>
        <p:nvPicPr>
          <p:cNvPr descr="image.png" id="187" name="Google Shape;187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62000" y="3705225"/>
            <a:ext cx="138112" cy="133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2" name="Google Shape;19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3838575"/>
            <a:ext cx="11125200" cy="714375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7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Executive Business Objectives</a:t>
            </a:r>
            <a:endParaRPr/>
          </a:p>
        </p:txBody>
      </p:sp>
      <p:sp>
        <p:nvSpPr>
          <p:cNvPr id="195" name="Google Shape;195;p17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96" name="Google Shape;19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430470" y="514350"/>
            <a:ext cx="1228129" cy="2381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97" name="Google Shape;197;p17"/>
          <p:cNvGraphicFramePr/>
          <p:nvPr/>
        </p:nvGraphicFramePr>
        <p:xfrm>
          <a:off x="533400" y="117157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{B4B3DDB1-13C6-4B1C-B614-515D47965E8A}</a:tableStyleId>
              </a:tblPr>
              <a:tblGrid>
                <a:gridCol w="1640075"/>
                <a:gridCol w="3310075"/>
                <a:gridCol w="3376900"/>
                <a:gridCol w="2798125"/>
              </a:tblGrid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Strategic Pillar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2F7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Core Objective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2F7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Target KPI / Benchmark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2F7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Expected Executive Value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2F73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Revenue Optimization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Expand High-AOV Category Sales &amp; Repeat Purchases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Increase AOV from $159 to $180; Lift Repeat Rate to 7%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+$1.8M Annual Organic GMV expansion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Fulfillment Speed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Compress Total Order-to-Delivery Cycle Time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Reduce average delivery days from 12.5 to 9.5 Days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Higher customer CSAT and repeat buy intent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SLA Reliability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Minimize Order Dispatch &amp; Carrier Delays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Improve On-Time Delivery from 92.4% to 97.0%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Reduction of customer support costs by ~25%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Freight Efficiency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Optimize Logistics Carrier Allocation &amp; Regional Hubs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Reduce Freight/GMV ratio from 14.2% to 11.5%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~$420K annual freight cost savings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98" name="Google Shape;198;p17"/>
          <p:cNvSpPr txBox="1"/>
          <p:nvPr/>
        </p:nvSpPr>
        <p:spPr>
          <a:xfrm>
            <a:off x="976312" y="4000500"/>
            <a:ext cx="110063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EXECUTIVE MANDATE</a:t>
            </a:r>
            <a:endParaRPr/>
          </a:p>
        </p:txBody>
      </p:sp>
      <p:sp>
        <p:nvSpPr>
          <p:cNvPr id="199" name="Google Shape;199;p17"/>
          <p:cNvSpPr txBox="1"/>
          <p:nvPr/>
        </p:nvSpPr>
        <p:spPr>
          <a:xfrm>
            <a:off x="762000" y="4191000"/>
            <a:ext cx="106965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Align seller operational compliance with carrier SLA performance to convert operational savings into commercial margin expansion.</a:t>
            </a:r>
            <a:endParaRPr/>
          </a:p>
        </p:txBody>
      </p:sp>
      <p:pic>
        <p:nvPicPr>
          <p:cNvPr descr="image.png" id="200" name="Google Shape;200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4010025"/>
            <a:ext cx="138112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7"/>
          <p:cNvSpPr/>
          <p:nvPr/>
        </p:nvSpPr>
        <p:spPr>
          <a:xfrm>
            <a:off x="533400" y="2043112"/>
            <a:ext cx="164008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7"/>
          <p:cNvSpPr/>
          <p:nvPr/>
        </p:nvSpPr>
        <p:spPr>
          <a:xfrm>
            <a:off x="2173485" y="2043112"/>
            <a:ext cx="33100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7"/>
          <p:cNvSpPr/>
          <p:nvPr/>
        </p:nvSpPr>
        <p:spPr>
          <a:xfrm>
            <a:off x="5483572" y="2043112"/>
            <a:ext cx="337691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7"/>
          <p:cNvSpPr/>
          <p:nvPr/>
        </p:nvSpPr>
        <p:spPr>
          <a:xfrm>
            <a:off x="8860482" y="2043112"/>
            <a:ext cx="27981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7"/>
          <p:cNvSpPr/>
          <p:nvPr/>
        </p:nvSpPr>
        <p:spPr>
          <a:xfrm>
            <a:off x="533400" y="2547937"/>
            <a:ext cx="164008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7"/>
          <p:cNvSpPr/>
          <p:nvPr/>
        </p:nvSpPr>
        <p:spPr>
          <a:xfrm>
            <a:off x="2173485" y="2547937"/>
            <a:ext cx="33100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7"/>
          <p:cNvSpPr/>
          <p:nvPr/>
        </p:nvSpPr>
        <p:spPr>
          <a:xfrm>
            <a:off x="5483572" y="2547937"/>
            <a:ext cx="337691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7"/>
          <p:cNvSpPr/>
          <p:nvPr/>
        </p:nvSpPr>
        <p:spPr>
          <a:xfrm>
            <a:off x="8860482" y="2547937"/>
            <a:ext cx="27981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7"/>
          <p:cNvSpPr/>
          <p:nvPr/>
        </p:nvSpPr>
        <p:spPr>
          <a:xfrm>
            <a:off x="533400" y="3052762"/>
            <a:ext cx="164008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7"/>
          <p:cNvSpPr/>
          <p:nvPr/>
        </p:nvSpPr>
        <p:spPr>
          <a:xfrm>
            <a:off x="2173485" y="3052762"/>
            <a:ext cx="33100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7"/>
          <p:cNvSpPr/>
          <p:nvPr/>
        </p:nvSpPr>
        <p:spPr>
          <a:xfrm>
            <a:off x="5483572" y="3052762"/>
            <a:ext cx="337691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7"/>
          <p:cNvSpPr/>
          <p:nvPr/>
        </p:nvSpPr>
        <p:spPr>
          <a:xfrm>
            <a:off x="8860482" y="3052762"/>
            <a:ext cx="27981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7"/>
          <p:cNvSpPr/>
          <p:nvPr/>
        </p:nvSpPr>
        <p:spPr>
          <a:xfrm>
            <a:off x="533400" y="3557587"/>
            <a:ext cx="164008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7"/>
          <p:cNvSpPr/>
          <p:nvPr/>
        </p:nvSpPr>
        <p:spPr>
          <a:xfrm>
            <a:off x="2173485" y="3557587"/>
            <a:ext cx="33100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7"/>
          <p:cNvSpPr/>
          <p:nvPr/>
        </p:nvSpPr>
        <p:spPr>
          <a:xfrm>
            <a:off x="5483572" y="3557587"/>
            <a:ext cx="337691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7"/>
          <p:cNvSpPr/>
          <p:nvPr/>
        </p:nvSpPr>
        <p:spPr>
          <a:xfrm>
            <a:off x="8860482" y="3557587"/>
            <a:ext cx="27981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1" name="Google Shape;22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2" name="Google Shape;22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2667000"/>
            <a:ext cx="5391150" cy="3733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3" name="Google Shape;223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67450" y="2667000"/>
            <a:ext cx="5391150" cy="3733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4" name="Google Shape;224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01216" y="139065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5" name="Google Shape;225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681858" y="139065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6" name="Google Shape;226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962501" y="139065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7" name="Google Shape;227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243143" y="139065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523785" y="139065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p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33400" y="1266825"/>
            <a:ext cx="2002482" cy="11715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0" name="Google Shape;230;p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814042" y="1266825"/>
            <a:ext cx="2002482" cy="11715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1" name="Google Shape;231;p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5094684" y="1266825"/>
            <a:ext cx="2002482" cy="11715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2" name="Google Shape;232;p1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7375326" y="1266825"/>
            <a:ext cx="2002482" cy="11715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3" name="Google Shape;233;p1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9655968" y="1266825"/>
            <a:ext cx="2002482" cy="117157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18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End-to-End Analytics Workflow</a:t>
            </a:r>
            <a:endParaRPr/>
          </a:p>
        </p:txBody>
      </p:sp>
      <p:sp>
        <p:nvSpPr>
          <p:cNvPr id="235" name="Google Shape;235;p18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36" name="Google Shape;236;p18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10270033" y="514350"/>
            <a:ext cx="1388566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18"/>
          <p:cNvSpPr/>
          <p:nvPr/>
        </p:nvSpPr>
        <p:spPr>
          <a:xfrm>
            <a:off x="533400" y="1495425"/>
            <a:ext cx="111252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8"/>
          <p:cNvSpPr txBox="1"/>
          <p:nvPr/>
        </p:nvSpPr>
        <p:spPr>
          <a:xfrm>
            <a:off x="657225" y="1733550"/>
            <a:ext cx="1754832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ENGINEERING</a:t>
            </a:r>
            <a:endParaRPr/>
          </a:p>
        </p:txBody>
      </p:sp>
      <p:sp>
        <p:nvSpPr>
          <p:cNvPr id="239" name="Google Shape;239;p18"/>
          <p:cNvSpPr txBox="1"/>
          <p:nvPr/>
        </p:nvSpPr>
        <p:spPr>
          <a:xfrm>
            <a:off x="657225" y="1885950"/>
            <a:ext cx="1754832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Python ETL, Feature Creation &amp; Cleaning</a:t>
            </a:r>
            <a:endParaRPr/>
          </a:p>
        </p:txBody>
      </p:sp>
      <p:sp>
        <p:nvSpPr>
          <p:cNvPr id="240" name="Google Shape;240;p18"/>
          <p:cNvSpPr txBox="1"/>
          <p:nvPr/>
        </p:nvSpPr>
        <p:spPr>
          <a:xfrm>
            <a:off x="2937867" y="1733550"/>
            <a:ext cx="1754832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MODELING</a:t>
            </a:r>
            <a:endParaRPr/>
          </a:p>
        </p:txBody>
      </p:sp>
      <p:sp>
        <p:nvSpPr>
          <p:cNvPr id="241" name="Google Shape;241;p18"/>
          <p:cNvSpPr txBox="1"/>
          <p:nvPr/>
        </p:nvSpPr>
        <p:spPr>
          <a:xfrm>
            <a:off x="2937867" y="1885950"/>
            <a:ext cx="1754832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Power Query Star Schema &amp; Relationships</a:t>
            </a:r>
            <a:endParaRPr/>
          </a:p>
        </p:txBody>
      </p:sp>
      <p:sp>
        <p:nvSpPr>
          <p:cNvPr id="242" name="Google Shape;242;p18"/>
          <p:cNvSpPr txBox="1"/>
          <p:nvPr/>
        </p:nvSpPr>
        <p:spPr>
          <a:xfrm>
            <a:off x="5218509" y="1733550"/>
            <a:ext cx="1754832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DAX ANALYTICS</a:t>
            </a:r>
            <a:endParaRPr/>
          </a:p>
        </p:txBody>
      </p:sp>
      <p:sp>
        <p:nvSpPr>
          <p:cNvPr id="243" name="Google Shape;243;p18"/>
          <p:cNvSpPr txBox="1"/>
          <p:nvPr/>
        </p:nvSpPr>
        <p:spPr>
          <a:xfrm>
            <a:off x="5218509" y="1885950"/>
            <a:ext cx="1754832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KPI Measures &amp; Time-Intelligence Calculations</a:t>
            </a:r>
            <a:endParaRPr/>
          </a:p>
        </p:txBody>
      </p:sp>
      <p:sp>
        <p:nvSpPr>
          <p:cNvPr id="244" name="Google Shape;244;p18"/>
          <p:cNvSpPr txBox="1"/>
          <p:nvPr/>
        </p:nvSpPr>
        <p:spPr>
          <a:xfrm>
            <a:off x="7499151" y="1733550"/>
            <a:ext cx="1754832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 DASHBOARDS</a:t>
            </a:r>
            <a:endParaRPr/>
          </a:p>
        </p:txBody>
      </p:sp>
      <p:sp>
        <p:nvSpPr>
          <p:cNvPr id="245" name="Google Shape;245;p18"/>
          <p:cNvSpPr txBox="1"/>
          <p:nvPr/>
        </p:nvSpPr>
        <p:spPr>
          <a:xfrm>
            <a:off x="7499151" y="1885950"/>
            <a:ext cx="1754832" cy="157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Sales &amp; Supply Chain Control Towers</a:t>
            </a:r>
            <a:endParaRPr/>
          </a:p>
        </p:txBody>
      </p:sp>
      <p:sp>
        <p:nvSpPr>
          <p:cNvPr id="246" name="Google Shape;246;p18"/>
          <p:cNvSpPr txBox="1"/>
          <p:nvPr/>
        </p:nvSpPr>
        <p:spPr>
          <a:xfrm>
            <a:off x="9779793" y="1733550"/>
            <a:ext cx="1754832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EXECUTIVE DECISION</a:t>
            </a:r>
            <a:endParaRPr/>
          </a:p>
        </p:txBody>
      </p:sp>
      <p:sp>
        <p:nvSpPr>
          <p:cNvPr id="247" name="Google Shape;247;p18"/>
          <p:cNvSpPr txBox="1"/>
          <p:nvPr/>
        </p:nvSpPr>
        <p:spPr>
          <a:xfrm>
            <a:off x="9779793" y="1885950"/>
            <a:ext cx="1754832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Recommendations &amp; Action Plan</a:t>
            </a:r>
            <a:endParaRPr/>
          </a:p>
        </p:txBody>
      </p:sp>
      <p:sp>
        <p:nvSpPr>
          <p:cNvPr id="248" name="Google Shape;248;p18"/>
          <p:cNvSpPr txBox="1"/>
          <p:nvPr/>
        </p:nvSpPr>
        <p:spPr>
          <a:xfrm>
            <a:off x="771525" y="2905125"/>
            <a:ext cx="5160645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Technical Infrastructure</a:t>
            </a:r>
            <a:endParaRPr/>
          </a:p>
        </p:txBody>
      </p:sp>
      <p:sp>
        <p:nvSpPr>
          <p:cNvPr id="249" name="Google Shape;249;p18"/>
          <p:cNvSpPr txBox="1"/>
          <p:nvPr/>
        </p:nvSpPr>
        <p:spPr>
          <a:xfrm>
            <a:off x="6505575" y="2905125"/>
            <a:ext cx="5160645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Business Intelligence Layer</a:t>
            </a:r>
            <a:endParaRPr/>
          </a:p>
        </p:txBody>
      </p:sp>
      <p:sp>
        <p:nvSpPr>
          <p:cNvPr id="250" name="Google Shape;250;p18"/>
          <p:cNvSpPr txBox="1"/>
          <p:nvPr/>
        </p:nvSpPr>
        <p:spPr>
          <a:xfrm>
            <a:off x="1000125" y="3248025"/>
            <a:ext cx="46863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Python Pipeline: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Automated data transformation, handling missing timestamps, geo-encoding, and calculating delivery variance metrics.</a:t>
            </a:r>
            <a:endParaRPr/>
          </a:p>
        </p:txBody>
      </p:sp>
      <p:sp>
        <p:nvSpPr>
          <p:cNvPr id="251" name="Google Shape;251;p18"/>
          <p:cNvSpPr txBox="1"/>
          <p:nvPr/>
        </p:nvSpPr>
        <p:spPr>
          <a:xfrm>
            <a:off x="1000125" y="3790950"/>
            <a:ext cx="46863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Integrity: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Standardized 100K+ transactional records across 8 raw tables into an optimized analytical data model.</a:t>
            </a:r>
            <a:endParaRPr/>
          </a:p>
        </p:txBody>
      </p:sp>
      <p:sp>
        <p:nvSpPr>
          <p:cNvPr id="252" name="Google Shape;252;p18"/>
          <p:cNvSpPr txBox="1"/>
          <p:nvPr/>
        </p:nvSpPr>
        <p:spPr>
          <a:xfrm>
            <a:off x="6734175" y="3248025"/>
            <a:ext cx="46863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Power Query &amp; DAX: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Developed 25+ dynamic DAX measures for Revenue, SLA Compliance, Freight Ratios, and Delivery Delays.</a:t>
            </a:r>
            <a:endParaRPr/>
          </a:p>
        </p:txBody>
      </p:sp>
      <p:sp>
        <p:nvSpPr>
          <p:cNvPr id="253" name="Google Shape;253;p18"/>
          <p:cNvSpPr txBox="1"/>
          <p:nvPr/>
        </p:nvSpPr>
        <p:spPr>
          <a:xfrm>
            <a:off x="6734175" y="3790950"/>
            <a:ext cx="46863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Interactive Control Towers: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Built executive dashboards providing instant drill-downs by region, category, seller, and carrier.</a:t>
            </a:r>
            <a:endParaRPr/>
          </a:p>
        </p:txBody>
      </p:sp>
      <p:sp>
        <p:nvSpPr>
          <p:cNvPr id="254" name="Google Shape;254;p18"/>
          <p:cNvSpPr txBox="1"/>
          <p:nvPr/>
        </p:nvSpPr>
        <p:spPr>
          <a:xfrm>
            <a:off x="771525" y="326707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255" name="Google Shape;255;p18"/>
          <p:cNvSpPr txBox="1"/>
          <p:nvPr/>
        </p:nvSpPr>
        <p:spPr>
          <a:xfrm>
            <a:off x="771525" y="381000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256" name="Google Shape;256;p18"/>
          <p:cNvSpPr txBox="1"/>
          <p:nvPr/>
        </p:nvSpPr>
        <p:spPr>
          <a:xfrm>
            <a:off x="6505575" y="326707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257" name="Google Shape;257;p18"/>
          <p:cNvSpPr txBox="1"/>
          <p:nvPr/>
        </p:nvSpPr>
        <p:spPr>
          <a:xfrm>
            <a:off x="6505575" y="381000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2" name="Google Shape;26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3" name="Google Shape;26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86425"/>
            <a:ext cx="11125200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4" name="Google Shape;26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1171575"/>
            <a:ext cx="5391150" cy="4362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5" name="Google Shape;26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67450" y="1171575"/>
            <a:ext cx="5391150" cy="4362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6" name="Google Shape;266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34150" y="2409825"/>
            <a:ext cx="4886325" cy="1778198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9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Python Data Engineering Pipeline</a:t>
            </a:r>
            <a:endParaRPr/>
          </a:p>
        </p:txBody>
      </p:sp>
      <p:sp>
        <p:nvSpPr>
          <p:cNvPr id="268" name="Google Shape;268;p19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69" name="Google Shape;269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960024" y="514350"/>
            <a:ext cx="1698575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19"/>
          <p:cNvSpPr txBox="1"/>
          <p:nvPr/>
        </p:nvSpPr>
        <p:spPr>
          <a:xfrm>
            <a:off x="1014412" y="5848350"/>
            <a:ext cx="1096637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ENGINEERING IMPACT</a:t>
            </a:r>
            <a:endParaRPr/>
          </a:p>
        </p:txBody>
      </p:sp>
      <p:sp>
        <p:nvSpPr>
          <p:cNvPr id="271" name="Google Shape;271;p19"/>
          <p:cNvSpPr txBox="1"/>
          <p:nvPr/>
        </p:nvSpPr>
        <p:spPr>
          <a:xfrm>
            <a:off x="762000" y="6038850"/>
            <a:ext cx="106965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Cleaned dataset reduced dashboard query overhead by 40% while creating high-value dimensions for regional SLA auditability.</a:t>
            </a:r>
            <a:endParaRPr/>
          </a:p>
        </p:txBody>
      </p:sp>
      <p:sp>
        <p:nvSpPr>
          <p:cNvPr id="272" name="Google Shape;272;p19"/>
          <p:cNvSpPr txBox="1"/>
          <p:nvPr/>
        </p:nvSpPr>
        <p:spPr>
          <a:xfrm>
            <a:off x="771525" y="1409700"/>
            <a:ext cx="5160645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Pipeline Cleaning &amp; Transformation</a:t>
            </a:r>
            <a:endParaRPr/>
          </a:p>
        </p:txBody>
      </p:sp>
      <p:sp>
        <p:nvSpPr>
          <p:cNvPr id="273" name="Google Shape;273;p19"/>
          <p:cNvSpPr txBox="1"/>
          <p:nvPr/>
        </p:nvSpPr>
        <p:spPr>
          <a:xfrm>
            <a:off x="6534150" y="1409700"/>
            <a:ext cx="5130641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Calculated Delivery Status Logic</a:t>
            </a:r>
            <a:endParaRPr/>
          </a:p>
        </p:txBody>
      </p:sp>
      <p:sp>
        <p:nvSpPr>
          <p:cNvPr id="274" name="Google Shape;274;p19"/>
          <p:cNvSpPr txBox="1"/>
          <p:nvPr/>
        </p:nvSpPr>
        <p:spPr>
          <a:xfrm>
            <a:off x="6534150" y="1752600"/>
            <a:ext cx="48863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Categorized orders into strict operational states to power executive dashboard tracking:</a:t>
            </a:r>
            <a:endParaRPr/>
          </a:p>
        </p:txBody>
      </p:sp>
      <p:sp>
        <p:nvSpPr>
          <p:cNvPr id="275" name="Google Shape;275;p19"/>
          <p:cNvSpPr txBox="1"/>
          <p:nvPr/>
        </p:nvSpPr>
        <p:spPr>
          <a:xfrm>
            <a:off x="6534150" y="4302323"/>
            <a:ext cx="4886325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Ensures zero ambiguity when auditing seller delivery compliance across states.</a:t>
            </a:r>
            <a:endParaRPr/>
          </a:p>
        </p:txBody>
      </p:sp>
      <p:pic>
        <p:nvPicPr>
          <p:cNvPr descr="image.png" id="276" name="Google Shape;276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5857875"/>
            <a:ext cx="176212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19"/>
          <p:cNvSpPr txBox="1"/>
          <p:nvPr/>
        </p:nvSpPr>
        <p:spPr>
          <a:xfrm>
            <a:off x="1000125" y="1752600"/>
            <a:ext cx="46863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Timestamp Standardization: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Parsed order purchase, approved, seller dispatch, carrier delivery, and estimated SLA timestamps.</a:t>
            </a:r>
            <a:endParaRPr/>
          </a:p>
        </p:txBody>
      </p:sp>
      <p:sp>
        <p:nvSpPr>
          <p:cNvPr id="278" name="Google Shape;278;p19"/>
          <p:cNvSpPr txBox="1"/>
          <p:nvPr/>
        </p:nvSpPr>
        <p:spPr>
          <a:xfrm>
            <a:off x="1000125" y="2295525"/>
            <a:ext cx="46863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Null Imputation &amp; Validation: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Handled non-delivered order states, preventing skew in fulfillment cycle time calculations.</a:t>
            </a:r>
            <a:endParaRPr/>
          </a:p>
        </p:txBody>
      </p:sp>
      <p:sp>
        <p:nvSpPr>
          <p:cNvPr id="279" name="Google Shape;279;p19"/>
          <p:cNvSpPr txBox="1"/>
          <p:nvPr/>
        </p:nvSpPr>
        <p:spPr>
          <a:xfrm>
            <a:off x="1000125" y="2838450"/>
            <a:ext cx="4686300" cy="1123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Feature Engineering:</a:t>
            </a:r>
            <a:endParaRPr/>
          </a:p>
        </p:txBody>
      </p:sp>
      <p:pic>
        <p:nvPicPr>
          <p:cNvPr descr="image.png" id="280" name="Google Shape;280;p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999809" y="2571750"/>
            <a:ext cx="1954857" cy="1454348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19"/>
          <p:cNvSpPr txBox="1"/>
          <p:nvPr/>
        </p:nvSpPr>
        <p:spPr>
          <a:xfrm>
            <a:off x="771525" y="177165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282" name="Google Shape;282;p19"/>
          <p:cNvSpPr txBox="1"/>
          <p:nvPr/>
        </p:nvSpPr>
        <p:spPr>
          <a:xfrm>
            <a:off x="771525" y="231457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283" name="Google Shape;283;p19"/>
          <p:cNvSpPr txBox="1"/>
          <p:nvPr/>
        </p:nvSpPr>
        <p:spPr>
          <a:xfrm>
            <a:off x="771525" y="285750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284" name="Google Shape;284;p19"/>
          <p:cNvSpPr txBox="1"/>
          <p:nvPr/>
        </p:nvSpPr>
        <p:spPr>
          <a:xfrm>
            <a:off x="1381125" y="3090862"/>
            <a:ext cx="4305300" cy="214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Delivery_Days = Delivered Date - Purchase Date</a:t>
            </a:r>
            <a:endParaRPr/>
          </a:p>
        </p:txBody>
      </p:sp>
      <p:sp>
        <p:nvSpPr>
          <p:cNvPr id="285" name="Google Shape;285;p19"/>
          <p:cNvSpPr txBox="1"/>
          <p:nvPr/>
        </p:nvSpPr>
        <p:spPr>
          <a:xfrm>
            <a:off x="1381125" y="3419475"/>
            <a:ext cx="4305300" cy="214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Delay_Days = Delivered Date - Estimated SLA Date</a:t>
            </a:r>
            <a:endParaRPr/>
          </a:p>
        </p:txBody>
      </p:sp>
      <p:sp>
        <p:nvSpPr>
          <p:cNvPr id="286" name="Google Shape;286;p19"/>
          <p:cNvSpPr txBox="1"/>
          <p:nvPr/>
        </p:nvSpPr>
        <p:spPr>
          <a:xfrm>
            <a:off x="1381125" y="3748087"/>
            <a:ext cx="4305300" cy="214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Freight_Ratio = Freight Value / Total Order Value</a:t>
            </a:r>
            <a:endParaRPr/>
          </a:p>
        </p:txBody>
      </p:sp>
      <p:sp>
        <p:nvSpPr>
          <p:cNvPr id="287" name="Google Shape;287;p19"/>
          <p:cNvSpPr txBox="1"/>
          <p:nvPr/>
        </p:nvSpPr>
        <p:spPr>
          <a:xfrm>
            <a:off x="1152525" y="3109912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288" name="Google Shape;288;p19"/>
          <p:cNvSpPr txBox="1"/>
          <p:nvPr/>
        </p:nvSpPr>
        <p:spPr>
          <a:xfrm>
            <a:off x="1152525" y="343852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289" name="Google Shape;289;p19"/>
          <p:cNvSpPr txBox="1"/>
          <p:nvPr/>
        </p:nvSpPr>
        <p:spPr>
          <a:xfrm>
            <a:off x="1152525" y="3767137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4" name="Google Shape;29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5" name="Google Shape;29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1171575"/>
            <a:ext cx="5391150" cy="5229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6" name="Google Shape;296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67450" y="1171575"/>
            <a:ext cx="5391150" cy="5229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7" name="Google Shape;297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96050" y="3171825"/>
            <a:ext cx="4933950" cy="9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0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Enterprise Star Schema Data Model</a:t>
            </a:r>
            <a:endParaRPr/>
          </a:p>
        </p:txBody>
      </p:sp>
      <p:sp>
        <p:nvSpPr>
          <p:cNvPr id="299" name="Google Shape;299;p20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00" name="Google Shape;300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840366" y="514350"/>
            <a:ext cx="1818233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20"/>
          <p:cNvSpPr txBox="1"/>
          <p:nvPr/>
        </p:nvSpPr>
        <p:spPr>
          <a:xfrm>
            <a:off x="771525" y="1409700"/>
            <a:ext cx="5160645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Fact &amp; Dimension Architecture</a:t>
            </a:r>
            <a:endParaRPr/>
          </a:p>
        </p:txBody>
      </p:sp>
      <p:sp>
        <p:nvSpPr>
          <p:cNvPr id="302" name="Google Shape;302;p20"/>
          <p:cNvSpPr txBox="1"/>
          <p:nvPr/>
        </p:nvSpPr>
        <p:spPr>
          <a:xfrm>
            <a:off x="6372701" y="2733675"/>
            <a:ext cx="518064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Star Schema Relationships</a:t>
            </a:r>
            <a:endParaRPr/>
          </a:p>
        </p:txBody>
      </p:sp>
      <p:sp>
        <p:nvSpPr>
          <p:cNvPr id="303" name="Google Shape;303;p20"/>
          <p:cNvSpPr txBox="1"/>
          <p:nvPr/>
        </p:nvSpPr>
        <p:spPr>
          <a:xfrm>
            <a:off x="6496050" y="4352925"/>
            <a:ext cx="49339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High-performance 1:N single-direction filters eliminating ambiguity and enabling sub-second visual rendering in Power BI/Excel.</a:t>
            </a:r>
            <a:endParaRPr/>
          </a:p>
        </p:txBody>
      </p:sp>
      <p:sp>
        <p:nvSpPr>
          <p:cNvPr id="304" name="Google Shape;304;p20"/>
          <p:cNvSpPr txBox="1"/>
          <p:nvPr/>
        </p:nvSpPr>
        <p:spPr>
          <a:xfrm>
            <a:off x="1000125" y="1752600"/>
            <a:ext cx="46863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Fact_Orders: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Central fact table containing 99.4K order items, price, freight, revenue metrics, and lifecycle dates.</a:t>
            </a:r>
            <a:endParaRPr/>
          </a:p>
        </p:txBody>
      </p:sp>
      <p:sp>
        <p:nvSpPr>
          <p:cNvPr id="305" name="Google Shape;305;p20"/>
          <p:cNvSpPr txBox="1"/>
          <p:nvPr/>
        </p:nvSpPr>
        <p:spPr>
          <a:xfrm>
            <a:off x="1000125" y="2295525"/>
            <a:ext cx="46863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Dim_Customers: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Customer geographic locations, unique IDs, and purchasing states.</a:t>
            </a:r>
            <a:endParaRPr/>
          </a:p>
        </p:txBody>
      </p:sp>
      <p:sp>
        <p:nvSpPr>
          <p:cNvPr id="306" name="Google Shape;306;p20"/>
          <p:cNvSpPr txBox="1"/>
          <p:nvPr/>
        </p:nvSpPr>
        <p:spPr>
          <a:xfrm>
            <a:off x="1000125" y="2838450"/>
            <a:ext cx="46863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Dim_Sellers: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Seller origin cities, states, and fulfillment performance metadata.</a:t>
            </a:r>
            <a:endParaRPr/>
          </a:p>
        </p:txBody>
      </p:sp>
      <p:sp>
        <p:nvSpPr>
          <p:cNvPr id="307" name="Google Shape;307;p20"/>
          <p:cNvSpPr txBox="1"/>
          <p:nvPr/>
        </p:nvSpPr>
        <p:spPr>
          <a:xfrm>
            <a:off x="1000125" y="3381375"/>
            <a:ext cx="46863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Dim_Products: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Product category translations, weight, volume, and dimensions.</a:t>
            </a:r>
            <a:endParaRPr/>
          </a:p>
        </p:txBody>
      </p:sp>
      <p:sp>
        <p:nvSpPr>
          <p:cNvPr id="308" name="Google Shape;308;p20"/>
          <p:cNvSpPr txBox="1"/>
          <p:nvPr/>
        </p:nvSpPr>
        <p:spPr>
          <a:xfrm>
            <a:off x="1000125" y="3924300"/>
            <a:ext cx="46863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Dim_Calendar: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Standardized time-intelligence dimension for YTD, YoY, and seasonality.</a:t>
            </a:r>
            <a:endParaRPr/>
          </a:p>
        </p:txBody>
      </p:sp>
      <p:sp>
        <p:nvSpPr>
          <p:cNvPr id="309" name="Google Shape;309;p20"/>
          <p:cNvSpPr txBox="1"/>
          <p:nvPr/>
        </p:nvSpPr>
        <p:spPr>
          <a:xfrm>
            <a:off x="771525" y="177165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310" name="Google Shape;310;p20"/>
          <p:cNvSpPr txBox="1"/>
          <p:nvPr/>
        </p:nvSpPr>
        <p:spPr>
          <a:xfrm>
            <a:off x="771525" y="231457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311" name="Google Shape;311;p20"/>
          <p:cNvSpPr txBox="1"/>
          <p:nvPr/>
        </p:nvSpPr>
        <p:spPr>
          <a:xfrm>
            <a:off x="771525" y="285750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312" name="Google Shape;312;p20"/>
          <p:cNvSpPr txBox="1"/>
          <p:nvPr/>
        </p:nvSpPr>
        <p:spPr>
          <a:xfrm>
            <a:off x="771525" y="340042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313" name="Google Shape;313;p20"/>
          <p:cNvSpPr txBox="1"/>
          <p:nvPr/>
        </p:nvSpPr>
        <p:spPr>
          <a:xfrm>
            <a:off x="771525" y="394335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8" name="Google Shape;31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9" name="Google Shape;319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1828800"/>
            <a:ext cx="5181600" cy="18049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0" name="Google Shape;320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5486400"/>
            <a:ext cx="51816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21"/>
          <p:cNvSpPr txBox="1"/>
          <p:nvPr/>
        </p:nvSpPr>
        <p:spPr>
          <a:xfrm>
            <a:off x="457200" y="457200"/>
            <a:ext cx="5440680" cy="704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Sales Analytics Control Tower</a:t>
            </a:r>
            <a:endParaRPr/>
          </a:p>
        </p:txBody>
      </p:sp>
      <p:sp>
        <p:nvSpPr>
          <p:cNvPr id="322" name="Google Shape;322;p21"/>
          <p:cNvSpPr txBox="1"/>
          <p:nvPr/>
        </p:nvSpPr>
        <p:spPr>
          <a:xfrm>
            <a:off x="457200" y="1276350"/>
            <a:ext cx="51816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executive Sales Analytics Dashboard provides real-time visibility into commercial performance, customer demand patterns, and regional GMV distribution.</a:t>
            </a:r>
            <a:endParaRPr/>
          </a:p>
        </p:txBody>
      </p:sp>
      <p:pic>
        <p:nvPicPr>
          <p:cNvPr descr="image.png" id="323" name="Google Shape;323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4" name="Google Shape;324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147691" y="619125"/>
            <a:ext cx="1491108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21"/>
          <p:cNvSpPr txBox="1"/>
          <p:nvPr/>
        </p:nvSpPr>
        <p:spPr>
          <a:xfrm>
            <a:off x="723900" y="2066925"/>
            <a:ext cx="4910613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Key Dashboard Capabilities</a:t>
            </a:r>
            <a:endParaRPr/>
          </a:p>
        </p:txBody>
      </p:sp>
      <p:sp>
        <p:nvSpPr>
          <p:cNvPr id="326" name="Google Shape;326;p21"/>
          <p:cNvSpPr txBox="1"/>
          <p:nvPr/>
        </p:nvSpPr>
        <p:spPr>
          <a:xfrm>
            <a:off x="919162" y="5648325"/>
            <a:ext cx="4745593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EXECUTIVE VIEW</a:t>
            </a:r>
            <a:endParaRPr/>
          </a:p>
        </p:txBody>
      </p:sp>
      <p:sp>
        <p:nvSpPr>
          <p:cNvPr id="327" name="Google Shape;327;p21"/>
          <p:cNvSpPr txBox="1"/>
          <p:nvPr/>
        </p:nvSpPr>
        <p:spPr>
          <a:xfrm>
            <a:off x="685800" y="5838825"/>
            <a:ext cx="475297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Designed for CEO/CCO level reviews to instantly isolate top-performing revenue categories and geographic expansion targets.</a:t>
            </a:r>
            <a:endParaRPr/>
          </a:p>
        </p:txBody>
      </p:sp>
      <p:sp>
        <p:nvSpPr>
          <p:cNvPr id="328" name="Google Shape;328;p21"/>
          <p:cNvSpPr txBox="1"/>
          <p:nvPr/>
        </p:nvSpPr>
        <p:spPr>
          <a:xfrm>
            <a:off x="952500" y="2409825"/>
            <a:ext cx="4448175" cy="214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Dynamic temporal filtering across 2016–2018 order timelines.</a:t>
            </a:r>
            <a:endParaRPr/>
          </a:p>
        </p:txBody>
      </p:sp>
      <p:sp>
        <p:nvSpPr>
          <p:cNvPr id="329" name="Google Shape;329;p21"/>
          <p:cNvSpPr txBox="1"/>
          <p:nvPr/>
        </p:nvSpPr>
        <p:spPr>
          <a:xfrm>
            <a:off x="952500" y="2738437"/>
            <a:ext cx="4448175" cy="214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State-by-state heat mapping highlighting GMV concentration.</a:t>
            </a:r>
            <a:endParaRPr/>
          </a:p>
        </p:txBody>
      </p:sp>
      <p:sp>
        <p:nvSpPr>
          <p:cNvPr id="330" name="Google Shape;330;p21"/>
          <p:cNvSpPr txBox="1"/>
          <p:nvPr/>
        </p:nvSpPr>
        <p:spPr>
          <a:xfrm>
            <a:off x="952500" y="3067050"/>
            <a:ext cx="4448175" cy="214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Category performance breakdowns by revenue and volume.</a:t>
            </a:r>
            <a:endParaRPr/>
          </a:p>
        </p:txBody>
      </p:sp>
      <p:pic>
        <p:nvPicPr>
          <p:cNvPr descr="image.png" id="331" name="Google Shape;331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85800" y="5657850"/>
            <a:ext cx="157162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21"/>
          <p:cNvSpPr txBox="1"/>
          <p:nvPr/>
        </p:nvSpPr>
        <p:spPr>
          <a:xfrm>
            <a:off x="723900" y="242887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333" name="Google Shape;333;p21"/>
          <p:cNvSpPr txBox="1"/>
          <p:nvPr/>
        </p:nvSpPr>
        <p:spPr>
          <a:xfrm>
            <a:off x="723900" y="2757487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334" name="Google Shape;334;p21"/>
          <p:cNvSpPr txBox="1"/>
          <p:nvPr/>
        </p:nvSpPr>
        <p:spPr>
          <a:xfrm>
            <a:off x="723900" y="308610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9" name="Google Shape;339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0" name="Google Shape;340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1171575"/>
            <a:ext cx="2638425" cy="12267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1" name="Google Shape;341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62325" y="1171575"/>
            <a:ext cx="2638425" cy="12267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2" name="Google Shape;342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91250" y="1171575"/>
            <a:ext cx="2638425" cy="12267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3" name="Google Shape;343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020175" y="1171575"/>
            <a:ext cx="2638425" cy="12267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4" name="Google Shape;344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33400" y="2626965"/>
            <a:ext cx="5391150" cy="377383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5" name="Google Shape;345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67450" y="2626965"/>
            <a:ext cx="5391150" cy="3773834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22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Sales Performance Key Metrics</a:t>
            </a:r>
            <a:endParaRPr/>
          </a:p>
        </p:txBody>
      </p:sp>
      <p:sp>
        <p:nvSpPr>
          <p:cNvPr id="347" name="Google Shape;347;p22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48" name="Google Shape;348;p2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022532" y="514350"/>
            <a:ext cx="1636067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2"/>
          <p:cNvSpPr txBox="1"/>
          <p:nvPr/>
        </p:nvSpPr>
        <p:spPr>
          <a:xfrm>
            <a:off x="733425" y="137160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REVENUE</a:t>
            </a:r>
            <a:endParaRPr/>
          </a:p>
        </p:txBody>
      </p:sp>
      <p:sp>
        <p:nvSpPr>
          <p:cNvPr id="350" name="Google Shape;350;p22"/>
          <p:cNvSpPr txBox="1"/>
          <p:nvPr/>
        </p:nvSpPr>
        <p:spPr>
          <a:xfrm>
            <a:off x="733425" y="1590675"/>
            <a:ext cx="2238375" cy="3981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$15.82M</a:t>
            </a:r>
            <a:endParaRPr/>
          </a:p>
        </p:txBody>
      </p:sp>
      <p:sp>
        <p:nvSpPr>
          <p:cNvPr id="351" name="Google Shape;351;p22"/>
          <p:cNvSpPr txBox="1"/>
          <p:nvPr/>
        </p:nvSpPr>
        <p:spPr>
          <a:xfrm>
            <a:off x="733425" y="2064990"/>
            <a:ext cx="223837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GMV Generated</a:t>
            </a:r>
            <a:endParaRPr/>
          </a:p>
        </p:txBody>
      </p:sp>
      <p:sp>
        <p:nvSpPr>
          <p:cNvPr id="352" name="Google Shape;352;p22"/>
          <p:cNvSpPr txBox="1"/>
          <p:nvPr/>
        </p:nvSpPr>
        <p:spPr>
          <a:xfrm>
            <a:off x="3562350" y="137160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ORDERS</a:t>
            </a:r>
            <a:endParaRPr/>
          </a:p>
        </p:txBody>
      </p:sp>
      <p:sp>
        <p:nvSpPr>
          <p:cNvPr id="353" name="Google Shape;353;p22"/>
          <p:cNvSpPr txBox="1"/>
          <p:nvPr/>
        </p:nvSpPr>
        <p:spPr>
          <a:xfrm>
            <a:off x="3562350" y="1590675"/>
            <a:ext cx="2238375" cy="3981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99,441</a:t>
            </a:r>
            <a:endParaRPr/>
          </a:p>
        </p:txBody>
      </p:sp>
      <p:sp>
        <p:nvSpPr>
          <p:cNvPr id="354" name="Google Shape;354;p22"/>
          <p:cNvSpPr txBox="1"/>
          <p:nvPr/>
        </p:nvSpPr>
        <p:spPr>
          <a:xfrm>
            <a:off x="3562350" y="2064990"/>
            <a:ext cx="223837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Fulfilling Purchases</a:t>
            </a:r>
            <a:endParaRPr/>
          </a:p>
        </p:txBody>
      </p:sp>
      <p:sp>
        <p:nvSpPr>
          <p:cNvPr id="355" name="Google Shape;355;p22"/>
          <p:cNvSpPr txBox="1"/>
          <p:nvPr/>
        </p:nvSpPr>
        <p:spPr>
          <a:xfrm>
            <a:off x="6391275" y="137160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AVERAGE ORDER VALUE</a:t>
            </a:r>
            <a:endParaRPr/>
          </a:p>
        </p:txBody>
      </p:sp>
      <p:sp>
        <p:nvSpPr>
          <p:cNvPr id="356" name="Google Shape;356;p22"/>
          <p:cNvSpPr txBox="1"/>
          <p:nvPr/>
        </p:nvSpPr>
        <p:spPr>
          <a:xfrm>
            <a:off x="6391275" y="1590675"/>
            <a:ext cx="2238375" cy="3981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$159.10</a:t>
            </a:r>
            <a:endParaRPr/>
          </a:p>
        </p:txBody>
      </p:sp>
      <p:sp>
        <p:nvSpPr>
          <p:cNvPr id="357" name="Google Shape;357;p22"/>
          <p:cNvSpPr txBox="1"/>
          <p:nvPr/>
        </p:nvSpPr>
        <p:spPr>
          <a:xfrm>
            <a:off x="6391275" y="2064990"/>
            <a:ext cx="223837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Basket Size Spend</a:t>
            </a:r>
            <a:endParaRPr/>
          </a:p>
        </p:txBody>
      </p:sp>
      <p:sp>
        <p:nvSpPr>
          <p:cNvPr id="358" name="Google Shape;358;p22"/>
          <p:cNvSpPr txBox="1"/>
          <p:nvPr/>
        </p:nvSpPr>
        <p:spPr>
          <a:xfrm>
            <a:off x="9220200" y="137160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CUSTOMERS</a:t>
            </a:r>
            <a:endParaRPr/>
          </a:p>
        </p:txBody>
      </p:sp>
      <p:sp>
        <p:nvSpPr>
          <p:cNvPr id="359" name="Google Shape;359;p22"/>
          <p:cNvSpPr txBox="1"/>
          <p:nvPr/>
        </p:nvSpPr>
        <p:spPr>
          <a:xfrm>
            <a:off x="9220200" y="1590675"/>
            <a:ext cx="2238375" cy="3981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96,096</a:t>
            </a:r>
            <a:endParaRPr/>
          </a:p>
        </p:txBody>
      </p:sp>
      <p:sp>
        <p:nvSpPr>
          <p:cNvPr id="360" name="Google Shape;360;p22"/>
          <p:cNvSpPr txBox="1"/>
          <p:nvPr/>
        </p:nvSpPr>
        <p:spPr>
          <a:xfrm>
            <a:off x="9220200" y="2064990"/>
            <a:ext cx="223837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Unique Buyers</a:t>
            </a:r>
            <a:endParaRPr/>
          </a:p>
        </p:txBody>
      </p:sp>
      <p:sp>
        <p:nvSpPr>
          <p:cNvPr id="361" name="Google Shape;361;p22"/>
          <p:cNvSpPr txBox="1"/>
          <p:nvPr/>
        </p:nvSpPr>
        <p:spPr>
          <a:xfrm>
            <a:off x="771525" y="2865090"/>
            <a:ext cx="5160645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Revenue Trajectory Analysis</a:t>
            </a:r>
            <a:endParaRPr/>
          </a:p>
        </p:txBody>
      </p:sp>
      <p:sp>
        <p:nvSpPr>
          <p:cNvPr id="362" name="Google Shape;362;p22"/>
          <p:cNvSpPr txBox="1"/>
          <p:nvPr/>
        </p:nvSpPr>
        <p:spPr>
          <a:xfrm>
            <a:off x="771525" y="3207990"/>
            <a:ext cx="49149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Exponential growth achieved from 2016 through mid-2018, scaling from under $100K/month in early stages to peak at </a:t>
            </a: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$1.1M+/month in 2018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</a:t>
            </a:r>
            <a:endParaRPr/>
          </a:p>
        </p:txBody>
      </p:sp>
      <p:sp>
        <p:nvSpPr>
          <p:cNvPr id="363" name="Google Shape;363;p22"/>
          <p:cNvSpPr txBox="1"/>
          <p:nvPr/>
        </p:nvSpPr>
        <p:spPr>
          <a:xfrm>
            <a:off x="6534150" y="2865090"/>
            <a:ext cx="5130641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Commercial Concentration Risk</a:t>
            </a:r>
            <a:endParaRPr/>
          </a:p>
        </p:txBody>
      </p:sp>
      <p:sp>
        <p:nvSpPr>
          <p:cNvPr id="364" name="Google Shape;364;p22"/>
          <p:cNvSpPr txBox="1"/>
          <p:nvPr/>
        </p:nvSpPr>
        <p:spPr>
          <a:xfrm>
            <a:off x="6534150" y="3207990"/>
            <a:ext cx="4886325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Despite massive volume expansion, basket value has remained flat ($155–$162 range), indicating that overall growth is volume-driven rather than basket-expansion driven.</a:t>
            </a:r>
            <a:endParaRPr/>
          </a:p>
        </p:txBody>
      </p:sp>
      <p:sp>
        <p:nvSpPr>
          <p:cNvPr id="365" name="Google Shape;365;p22"/>
          <p:cNvSpPr txBox="1"/>
          <p:nvPr/>
        </p:nvSpPr>
        <p:spPr>
          <a:xfrm>
            <a:off x="6762750" y="4079527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Growth Driver: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Marketplace seller onboarding expanding catalog availability.</a:t>
            </a:r>
            <a:endParaRPr/>
          </a:p>
        </p:txBody>
      </p:sp>
      <p:sp>
        <p:nvSpPr>
          <p:cNvPr id="366" name="Google Shape;366;p22"/>
          <p:cNvSpPr txBox="1"/>
          <p:nvPr/>
        </p:nvSpPr>
        <p:spPr>
          <a:xfrm>
            <a:off x="6762750" y="4622452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Key Vulnerability: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Low cross-selling rates between complementary product categories.</a:t>
            </a:r>
            <a:endParaRPr/>
          </a:p>
        </p:txBody>
      </p:sp>
      <p:sp>
        <p:nvSpPr>
          <p:cNvPr id="367" name="Google Shape;367;p22"/>
          <p:cNvSpPr txBox="1"/>
          <p:nvPr/>
        </p:nvSpPr>
        <p:spPr>
          <a:xfrm>
            <a:off x="6534150" y="4098577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368" name="Google Shape;368;p22"/>
          <p:cNvSpPr txBox="1"/>
          <p:nvPr/>
        </p:nvSpPr>
        <p:spPr>
          <a:xfrm>
            <a:off x="6534150" y="4641502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3" name="Google Shape;37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4" name="Google Shape;374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86425"/>
            <a:ext cx="11125200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5" name="Google Shape;375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1171575"/>
            <a:ext cx="5391150" cy="4362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6" name="Google Shape;376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67450" y="1171575"/>
            <a:ext cx="5391150" cy="4362450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23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Sales Insight: Product Category Breakdown</a:t>
            </a:r>
            <a:endParaRPr/>
          </a:p>
        </p:txBody>
      </p:sp>
      <p:sp>
        <p:nvSpPr>
          <p:cNvPr id="378" name="Google Shape;378;p23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79" name="Google Shape;379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143827" y="514350"/>
            <a:ext cx="1514772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23"/>
          <p:cNvSpPr txBox="1"/>
          <p:nvPr/>
        </p:nvSpPr>
        <p:spPr>
          <a:xfrm>
            <a:off x="976312" y="5848350"/>
            <a:ext cx="110063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CATEGORY RECOMMENDATION</a:t>
            </a:r>
            <a:endParaRPr/>
          </a:p>
        </p:txBody>
      </p:sp>
      <p:sp>
        <p:nvSpPr>
          <p:cNvPr id="381" name="Google Shape;381;p23"/>
          <p:cNvSpPr txBox="1"/>
          <p:nvPr/>
        </p:nvSpPr>
        <p:spPr>
          <a:xfrm>
            <a:off x="762000" y="6038850"/>
            <a:ext cx="106965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Prioritize seller acquisition in high-margin, lightweight categories (Watches, Health &amp; Beauty) to optimize profit per cubic meter shipped.</a:t>
            </a:r>
            <a:endParaRPr/>
          </a:p>
        </p:txBody>
      </p:sp>
      <p:sp>
        <p:nvSpPr>
          <p:cNvPr id="382" name="Google Shape;382;p23"/>
          <p:cNvSpPr txBox="1"/>
          <p:nvPr/>
        </p:nvSpPr>
        <p:spPr>
          <a:xfrm>
            <a:off x="771525" y="1409700"/>
            <a:ext cx="5160645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Top Revenue Categories</a:t>
            </a:r>
            <a:endParaRPr/>
          </a:p>
        </p:txBody>
      </p:sp>
      <p:sp>
        <p:nvSpPr>
          <p:cNvPr id="383" name="Google Shape;383;p23"/>
          <p:cNvSpPr txBox="1"/>
          <p:nvPr/>
        </p:nvSpPr>
        <p:spPr>
          <a:xfrm>
            <a:off x="6534150" y="1409700"/>
            <a:ext cx="5130641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Business Analysis &amp; Impact</a:t>
            </a:r>
            <a:endParaRPr/>
          </a:p>
        </p:txBody>
      </p:sp>
      <p:pic>
        <p:nvPicPr>
          <p:cNvPr descr="image.png" id="384" name="Google Shape;384;p2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5857875"/>
            <a:ext cx="138112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23"/>
          <p:cNvSpPr txBox="1"/>
          <p:nvPr/>
        </p:nvSpPr>
        <p:spPr>
          <a:xfrm>
            <a:off x="6762750" y="1752600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Question: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Which categories drive high-margin revenue vs operational volume overhead?</a:t>
            </a:r>
            <a:endParaRPr/>
          </a:p>
        </p:txBody>
      </p:sp>
      <p:sp>
        <p:nvSpPr>
          <p:cNvPr id="386" name="Google Shape;386;p23"/>
          <p:cNvSpPr txBox="1"/>
          <p:nvPr/>
        </p:nvSpPr>
        <p:spPr>
          <a:xfrm>
            <a:off x="6762750" y="2295525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Insight: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Top 5 categories represent </a:t>
            </a: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34% of total marketplace revenue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 Watches &amp; Gifts delivers highest unit margin with lower freight complexity.</a:t>
            </a:r>
            <a:endParaRPr/>
          </a:p>
        </p:txBody>
      </p:sp>
      <p:sp>
        <p:nvSpPr>
          <p:cNvPr id="387" name="Google Shape;387;p23"/>
          <p:cNvSpPr txBox="1"/>
          <p:nvPr/>
        </p:nvSpPr>
        <p:spPr>
          <a:xfrm>
            <a:off x="6762750" y="2838450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Impact: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Bed Bath Table generates high shipping volume but incurs higher freight costs due to physical weight/dimensions.</a:t>
            </a:r>
            <a:endParaRPr/>
          </a:p>
        </p:txBody>
      </p:sp>
      <p:sp>
        <p:nvSpPr>
          <p:cNvPr id="388" name="Google Shape;388;p23"/>
          <p:cNvSpPr txBox="1"/>
          <p:nvPr/>
        </p:nvSpPr>
        <p:spPr>
          <a:xfrm>
            <a:off x="6534150" y="177165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389" name="Google Shape;389;p23"/>
          <p:cNvSpPr txBox="1"/>
          <p:nvPr/>
        </p:nvSpPr>
        <p:spPr>
          <a:xfrm>
            <a:off x="6534150" y="231457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390" name="Google Shape;390;p23"/>
          <p:cNvSpPr txBox="1"/>
          <p:nvPr/>
        </p:nvSpPr>
        <p:spPr>
          <a:xfrm>
            <a:off x="6534150" y="285750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95" name="Google Shape;39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6" name="Google Shape;39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86425"/>
            <a:ext cx="11125200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7" name="Google Shape;397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1171575"/>
            <a:ext cx="5391150" cy="4362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8" name="Google Shape;398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67450" y="1171575"/>
            <a:ext cx="5391150" cy="4362450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24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Sales Insight: Regional Revenue Concentration</a:t>
            </a:r>
            <a:endParaRPr/>
          </a:p>
        </p:txBody>
      </p:sp>
      <p:sp>
        <p:nvSpPr>
          <p:cNvPr id="400" name="Google Shape;400;p24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01" name="Google Shape;401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143827" y="514350"/>
            <a:ext cx="1514772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24"/>
          <p:cNvSpPr txBox="1"/>
          <p:nvPr/>
        </p:nvSpPr>
        <p:spPr>
          <a:xfrm>
            <a:off x="995362" y="5848350"/>
            <a:ext cx="10986373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REGIONAL EXECUTIVE STRATEGY</a:t>
            </a:r>
            <a:endParaRPr/>
          </a:p>
        </p:txBody>
      </p:sp>
      <p:sp>
        <p:nvSpPr>
          <p:cNvPr id="403" name="Google Shape;403;p24"/>
          <p:cNvSpPr txBox="1"/>
          <p:nvPr/>
        </p:nvSpPr>
        <p:spPr>
          <a:xfrm>
            <a:off x="762000" y="6038850"/>
            <a:ext cx="106965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Establish dedicated regional seller onboarding hubs in SP and RJ while optimizing long-distance freight partnerships for Northeast expansion.</a:t>
            </a:r>
            <a:endParaRPr/>
          </a:p>
        </p:txBody>
      </p:sp>
      <p:sp>
        <p:nvSpPr>
          <p:cNvPr id="404" name="Google Shape;404;p24"/>
          <p:cNvSpPr txBox="1"/>
          <p:nvPr/>
        </p:nvSpPr>
        <p:spPr>
          <a:xfrm>
            <a:off x="771525" y="1409700"/>
            <a:ext cx="5160645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Top State Revenue Drivers</a:t>
            </a:r>
            <a:endParaRPr/>
          </a:p>
        </p:txBody>
      </p:sp>
      <p:sp>
        <p:nvSpPr>
          <p:cNvPr id="405" name="Google Shape;405;p24"/>
          <p:cNvSpPr txBox="1"/>
          <p:nvPr/>
        </p:nvSpPr>
        <p:spPr>
          <a:xfrm>
            <a:off x="6534150" y="1409700"/>
            <a:ext cx="5130641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Geographic Dominance &amp; Risk</a:t>
            </a:r>
            <a:endParaRPr/>
          </a:p>
        </p:txBody>
      </p:sp>
      <p:pic>
        <p:nvPicPr>
          <p:cNvPr descr="image.png" id="406" name="Google Shape;406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5857875"/>
            <a:ext cx="157162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24"/>
          <p:cNvSpPr txBox="1"/>
          <p:nvPr/>
        </p:nvSpPr>
        <p:spPr>
          <a:xfrm>
            <a:off x="6762750" y="1752600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Question: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Where is consumer demand concentrated, and where are expansion gaps?</a:t>
            </a:r>
            <a:endParaRPr/>
          </a:p>
        </p:txBody>
      </p:sp>
      <p:sp>
        <p:nvSpPr>
          <p:cNvPr id="408" name="Google Shape;408;p24"/>
          <p:cNvSpPr txBox="1"/>
          <p:nvPr/>
        </p:nvSpPr>
        <p:spPr>
          <a:xfrm>
            <a:off x="6762750" y="2295525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Insight: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Southeast Brazil (SP, RJ, MG) generates </a:t>
            </a: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62.1% of total demand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 SP alone is nearly 3x larger than the second largest state (RJ).</a:t>
            </a:r>
            <a:endParaRPr/>
          </a:p>
        </p:txBody>
      </p:sp>
      <p:sp>
        <p:nvSpPr>
          <p:cNvPr id="409" name="Google Shape;409;p24"/>
          <p:cNvSpPr txBox="1"/>
          <p:nvPr/>
        </p:nvSpPr>
        <p:spPr>
          <a:xfrm>
            <a:off x="6762750" y="2838450"/>
            <a:ext cx="4657725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Vulnerability: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Extreme revenue dependency on SP means any operational outage or carrier failure in SP jeopardizes company financial performance.</a:t>
            </a:r>
            <a:endParaRPr/>
          </a:p>
        </p:txBody>
      </p:sp>
      <p:sp>
        <p:nvSpPr>
          <p:cNvPr id="410" name="Google Shape;410;p24"/>
          <p:cNvSpPr txBox="1"/>
          <p:nvPr/>
        </p:nvSpPr>
        <p:spPr>
          <a:xfrm>
            <a:off x="6534150" y="177165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411" name="Google Shape;411;p24"/>
          <p:cNvSpPr txBox="1"/>
          <p:nvPr/>
        </p:nvSpPr>
        <p:spPr>
          <a:xfrm>
            <a:off x="6534150" y="231457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412" name="Google Shape;412;p24"/>
          <p:cNvSpPr txBox="1"/>
          <p:nvPr/>
        </p:nvSpPr>
        <p:spPr>
          <a:xfrm>
            <a:off x="6534150" y="285750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7" name="Google Shape;41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8" name="Google Shape;418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86425"/>
            <a:ext cx="11125200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9" name="Google Shape;419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1171575"/>
            <a:ext cx="5391150" cy="428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0" name="Google Shape;420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67450" y="1171575"/>
            <a:ext cx="5391150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25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Sales Insight: Retention &amp; Purchase Patterns</a:t>
            </a:r>
            <a:endParaRPr/>
          </a:p>
        </p:txBody>
      </p:sp>
      <p:sp>
        <p:nvSpPr>
          <p:cNvPr id="422" name="Google Shape;422;p25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23" name="Google Shape;423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143827" y="514350"/>
            <a:ext cx="1514772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25"/>
          <p:cNvSpPr txBox="1"/>
          <p:nvPr/>
        </p:nvSpPr>
        <p:spPr>
          <a:xfrm>
            <a:off x="976312" y="5848350"/>
            <a:ext cx="110063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RETENTION RECOMMENDATION</a:t>
            </a:r>
            <a:endParaRPr/>
          </a:p>
        </p:txBody>
      </p:sp>
      <p:sp>
        <p:nvSpPr>
          <p:cNvPr id="425" name="Google Shape;425;p25"/>
          <p:cNvSpPr txBox="1"/>
          <p:nvPr/>
        </p:nvSpPr>
        <p:spPr>
          <a:xfrm>
            <a:off x="762000" y="6038850"/>
            <a:ext cx="106965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Launch targeted post-purchase cross-category email marketing and a unified OLIST loyalty program for top categories like Health &amp; Beauty.</a:t>
            </a:r>
            <a:endParaRPr/>
          </a:p>
        </p:txBody>
      </p:sp>
      <p:sp>
        <p:nvSpPr>
          <p:cNvPr id="426" name="Google Shape;426;p25"/>
          <p:cNvSpPr txBox="1"/>
          <p:nvPr/>
        </p:nvSpPr>
        <p:spPr>
          <a:xfrm>
            <a:off x="733425" y="1371600"/>
            <a:ext cx="49911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CUSTOMER REPEAT PURCHASE RATE</a:t>
            </a:r>
            <a:endParaRPr/>
          </a:p>
        </p:txBody>
      </p:sp>
      <p:sp>
        <p:nvSpPr>
          <p:cNvPr id="427" name="Google Shape;427;p25"/>
          <p:cNvSpPr txBox="1"/>
          <p:nvPr/>
        </p:nvSpPr>
        <p:spPr>
          <a:xfrm>
            <a:off x="733425" y="1590675"/>
            <a:ext cx="4991100" cy="58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3.02%</a:t>
            </a:r>
            <a:endParaRPr/>
          </a:p>
        </p:txBody>
      </p:sp>
      <p:sp>
        <p:nvSpPr>
          <p:cNvPr id="428" name="Google Shape;428;p25"/>
          <p:cNvSpPr txBox="1"/>
          <p:nvPr/>
        </p:nvSpPr>
        <p:spPr>
          <a:xfrm>
            <a:off x="733425" y="2253555"/>
            <a:ext cx="49911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96.98% Single-Order Customers</a:t>
            </a:r>
            <a:endParaRPr/>
          </a:p>
        </p:txBody>
      </p:sp>
      <p:sp>
        <p:nvSpPr>
          <p:cNvPr id="429" name="Google Shape;429;p25"/>
          <p:cNvSpPr txBox="1"/>
          <p:nvPr/>
        </p:nvSpPr>
        <p:spPr>
          <a:xfrm>
            <a:off x="6534150" y="1409700"/>
            <a:ext cx="5130641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Customer Lifetime Value Deficit</a:t>
            </a:r>
            <a:endParaRPr/>
          </a:p>
        </p:txBody>
      </p:sp>
      <p:pic>
        <p:nvPicPr>
          <p:cNvPr descr="image.png" id="430" name="Google Shape;430;p2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5857875"/>
            <a:ext cx="138112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25"/>
          <p:cNvSpPr txBox="1"/>
          <p:nvPr/>
        </p:nvSpPr>
        <p:spPr>
          <a:xfrm>
            <a:off x="6762750" y="1752600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Question: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Is OLIST building sustainable customer loyalty or relying solely on expensive new acquisition?</a:t>
            </a:r>
            <a:endParaRPr/>
          </a:p>
        </p:txBody>
      </p:sp>
      <p:sp>
        <p:nvSpPr>
          <p:cNvPr id="432" name="Google Shape;432;p25"/>
          <p:cNvSpPr txBox="1"/>
          <p:nvPr/>
        </p:nvSpPr>
        <p:spPr>
          <a:xfrm>
            <a:off x="6762750" y="2295525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Finding: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Out of 96,096 unique buyers, over </a:t>
            </a: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93,000 purchased only once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during the 2-year analysis window.</a:t>
            </a:r>
            <a:endParaRPr/>
          </a:p>
        </p:txBody>
      </p:sp>
      <p:sp>
        <p:nvSpPr>
          <p:cNvPr id="433" name="Google Shape;433;p25"/>
          <p:cNvSpPr txBox="1"/>
          <p:nvPr/>
        </p:nvSpPr>
        <p:spPr>
          <a:xfrm>
            <a:off x="6762750" y="2838450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Impact: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High Customer Acquisition Cost (CAC) is not amortized over multiple purchases, suppressing overall net margin.</a:t>
            </a:r>
            <a:endParaRPr/>
          </a:p>
        </p:txBody>
      </p:sp>
      <p:sp>
        <p:nvSpPr>
          <p:cNvPr id="434" name="Google Shape;434;p25"/>
          <p:cNvSpPr txBox="1"/>
          <p:nvPr/>
        </p:nvSpPr>
        <p:spPr>
          <a:xfrm>
            <a:off x="6534150" y="177165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435" name="Google Shape;435;p25"/>
          <p:cNvSpPr txBox="1"/>
          <p:nvPr/>
        </p:nvSpPr>
        <p:spPr>
          <a:xfrm>
            <a:off x="6534150" y="231457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436" name="Google Shape;436;p25"/>
          <p:cNvSpPr txBox="1"/>
          <p:nvPr/>
        </p:nvSpPr>
        <p:spPr>
          <a:xfrm>
            <a:off x="6534150" y="285750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41" name="Google Shape;441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2" name="Google Shape;442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3905250"/>
            <a:ext cx="11125200" cy="714375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26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Sales Executive Strategic Action Plan</a:t>
            </a:r>
            <a:endParaRPr/>
          </a:p>
        </p:txBody>
      </p:sp>
      <p:sp>
        <p:nvSpPr>
          <p:cNvPr id="444" name="Google Shape;444;p26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45" name="Google Shape;445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912548" y="514350"/>
            <a:ext cx="1746051" cy="2381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46" name="Google Shape;446;p26"/>
          <p:cNvGraphicFramePr/>
          <p:nvPr/>
        </p:nvGraphicFramePr>
        <p:xfrm>
          <a:off x="533400" y="117157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{B4B3DDB1-13C6-4B1C-B614-515D47965E8A}</a:tableStyleId>
              </a:tblPr>
              <a:tblGrid>
                <a:gridCol w="1662700"/>
                <a:gridCol w="3019425"/>
                <a:gridCol w="3967150"/>
                <a:gridCol w="2475900"/>
              </a:tblGrid>
              <a:tr h="626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Strategic Finding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2F7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Identified Risk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2F7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Strategic Action Plan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2F7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Expected Business Impact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2F73"/>
                    </a:solidFill>
                  </a:tcPr>
                </a:tc>
              </a:tr>
              <a:tr h="626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Single-Purchase Reliance</a:t>
                      </a:r>
                      <a:br>
                        <a:rPr lang="en-US" sz="18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b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</a:b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         (3.02% Repeat Rate)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High CAC erosion and uncaptured customer lifetime value.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Implement automated post-purchase re-engagement campaigns for top-margin categories.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+4.5% Repeat Rate</a:t>
                      </a:r>
                      <a:br>
                        <a:rPr lang="en-US" sz="18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b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</a:b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         ($700K+ incremental GMV without acquisition cost)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6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SP State Revenue Hub</a:t>
                      </a:r>
                      <a:br>
                        <a:rPr lang="en-US" sz="18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b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</a:b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         (37% GMV Concentration)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Local logistics disruptions directly threaten top-line revenue.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Deploy localized micro-fulfillment hubs in SP and create premium regional delivery tiers.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15% Delivery Speed Lift</a:t>
                      </a:r>
                      <a:br>
                        <a:rPr lang="en-US" sz="18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b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</a:b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         Higher regional conversion rates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626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Low-Margin Heavy Goods</a:t>
                      </a:r>
                      <a:br>
                        <a:rPr lang="en-US" sz="18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b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</a:b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         (Bed/Bath freight drag)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Freight costs eating into seller profitability and driving seller churn.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Implement dimensional weight freight subsidies for high-performing sellers.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+8% Seller Retention</a:t>
                      </a: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 in heavy categories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47" name="Google Shape;447;p26"/>
          <p:cNvSpPr txBox="1"/>
          <p:nvPr/>
        </p:nvSpPr>
        <p:spPr>
          <a:xfrm>
            <a:off x="957262" y="4067175"/>
            <a:ext cx="11026378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EXECUTIVE SUMMARY</a:t>
            </a:r>
            <a:endParaRPr/>
          </a:p>
        </p:txBody>
      </p:sp>
      <p:sp>
        <p:nvSpPr>
          <p:cNvPr id="448" name="Google Shape;448;p26"/>
          <p:cNvSpPr txBox="1"/>
          <p:nvPr/>
        </p:nvSpPr>
        <p:spPr>
          <a:xfrm>
            <a:off x="762000" y="4257675"/>
            <a:ext cx="106965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Transforming commercial growth from transactional acquisition into loyal customer retention supported by regional fulfillment excellence.</a:t>
            </a:r>
            <a:endParaRPr/>
          </a:p>
        </p:txBody>
      </p:sp>
      <p:pic>
        <p:nvPicPr>
          <p:cNvPr descr="image.png" id="449" name="Google Shape;449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4076700"/>
            <a:ext cx="119062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450" name="Google Shape;450;p26"/>
          <p:cNvSpPr/>
          <p:nvPr/>
        </p:nvSpPr>
        <p:spPr>
          <a:xfrm>
            <a:off x="533400" y="2195512"/>
            <a:ext cx="166270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6"/>
          <p:cNvSpPr/>
          <p:nvPr/>
        </p:nvSpPr>
        <p:spPr>
          <a:xfrm>
            <a:off x="2196107" y="2195512"/>
            <a:ext cx="30194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6"/>
          <p:cNvSpPr/>
          <p:nvPr/>
        </p:nvSpPr>
        <p:spPr>
          <a:xfrm>
            <a:off x="5215532" y="2195512"/>
            <a:ext cx="39671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6"/>
          <p:cNvSpPr/>
          <p:nvPr/>
        </p:nvSpPr>
        <p:spPr>
          <a:xfrm>
            <a:off x="9182695" y="2195512"/>
            <a:ext cx="247590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6"/>
          <p:cNvSpPr/>
          <p:nvPr/>
        </p:nvSpPr>
        <p:spPr>
          <a:xfrm>
            <a:off x="533400" y="3005137"/>
            <a:ext cx="166270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26"/>
          <p:cNvSpPr/>
          <p:nvPr/>
        </p:nvSpPr>
        <p:spPr>
          <a:xfrm>
            <a:off x="2196107" y="3005137"/>
            <a:ext cx="30194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26"/>
          <p:cNvSpPr/>
          <p:nvPr/>
        </p:nvSpPr>
        <p:spPr>
          <a:xfrm>
            <a:off x="5215532" y="3005137"/>
            <a:ext cx="39671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6"/>
          <p:cNvSpPr/>
          <p:nvPr/>
        </p:nvSpPr>
        <p:spPr>
          <a:xfrm>
            <a:off x="9182695" y="3005137"/>
            <a:ext cx="247590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6"/>
          <p:cNvSpPr/>
          <p:nvPr/>
        </p:nvSpPr>
        <p:spPr>
          <a:xfrm>
            <a:off x="533400" y="3662362"/>
            <a:ext cx="166270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6"/>
          <p:cNvSpPr/>
          <p:nvPr/>
        </p:nvSpPr>
        <p:spPr>
          <a:xfrm>
            <a:off x="2196107" y="3662362"/>
            <a:ext cx="30194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26"/>
          <p:cNvSpPr/>
          <p:nvPr/>
        </p:nvSpPr>
        <p:spPr>
          <a:xfrm>
            <a:off x="5215532" y="3662362"/>
            <a:ext cx="39671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6"/>
          <p:cNvSpPr/>
          <p:nvPr/>
        </p:nvSpPr>
        <p:spPr>
          <a:xfrm>
            <a:off x="9182695" y="3662362"/>
            <a:ext cx="247590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66" name="Google Shape;46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67" name="Google Shape;467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49180" y="1821209"/>
            <a:ext cx="149349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68" name="Google Shape;468;p27"/>
          <p:cNvSpPr txBox="1"/>
          <p:nvPr/>
        </p:nvSpPr>
        <p:spPr>
          <a:xfrm>
            <a:off x="1595437" y="2316509"/>
            <a:ext cx="9001125" cy="1005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From Revenue Generation to Operational Fulfillment</a:t>
            </a:r>
            <a:endParaRPr/>
          </a:p>
        </p:txBody>
      </p:sp>
      <p:sp>
        <p:nvSpPr>
          <p:cNvPr id="469" name="Google Shape;469;p27"/>
          <p:cNvSpPr txBox="1"/>
          <p:nvPr/>
        </p:nvSpPr>
        <p:spPr>
          <a:xfrm>
            <a:off x="2286000" y="3665190"/>
            <a:ext cx="762000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BAE6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"Generating demand is only half the story. Operational excellence and delivery reliability dictate whether growth is profitable and sustainable."</a:t>
            </a:r>
            <a:endParaRPr/>
          </a:p>
        </p:txBody>
      </p:sp>
      <p:sp>
        <p:nvSpPr>
          <p:cNvPr id="470" name="Google Shape;470;p27"/>
          <p:cNvSpPr txBox="1"/>
          <p:nvPr/>
        </p:nvSpPr>
        <p:spPr>
          <a:xfrm>
            <a:off x="3688853" y="4693890"/>
            <a:ext cx="481414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0F2F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Entering Part II: The Supply Chain Control Tower &amp; Fulfillment Analytics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75" name="Google Shape;475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6" name="Google Shape;476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028825"/>
            <a:ext cx="5181600" cy="18049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7" name="Google Shape;477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5486400"/>
            <a:ext cx="51816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8" name="Google Shape;478;p28"/>
          <p:cNvSpPr txBox="1"/>
          <p:nvPr/>
        </p:nvSpPr>
        <p:spPr>
          <a:xfrm>
            <a:off x="457200" y="457200"/>
            <a:ext cx="5440680" cy="704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Supply Chain Control Tower</a:t>
            </a:r>
            <a:endParaRPr/>
          </a:p>
        </p:txBody>
      </p:sp>
      <p:sp>
        <p:nvSpPr>
          <p:cNvPr id="479" name="Google Shape;479;p28"/>
          <p:cNvSpPr txBox="1"/>
          <p:nvPr/>
        </p:nvSpPr>
        <p:spPr>
          <a:xfrm>
            <a:off x="457200" y="1276350"/>
            <a:ext cx="518160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Supply Chain Control Tower provides executive oversight across fulfillment lifecycles, tracking seller dispatch speed, carrier transit SLAs, and regional delivery delays.</a:t>
            </a:r>
            <a:endParaRPr/>
          </a:p>
        </p:txBody>
      </p:sp>
      <p:pic>
        <p:nvPicPr>
          <p:cNvPr descr="image.png" id="480" name="Google Shape;480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1" name="Google Shape;481;p2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281338" y="619125"/>
            <a:ext cx="1357461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28"/>
          <p:cNvSpPr txBox="1"/>
          <p:nvPr/>
        </p:nvSpPr>
        <p:spPr>
          <a:xfrm>
            <a:off x="723900" y="2266950"/>
            <a:ext cx="4910613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Fulfillment Metrics Monitored</a:t>
            </a:r>
            <a:endParaRPr/>
          </a:p>
        </p:txBody>
      </p:sp>
      <p:sp>
        <p:nvSpPr>
          <p:cNvPr id="483" name="Google Shape;483;p28"/>
          <p:cNvSpPr txBox="1"/>
          <p:nvPr/>
        </p:nvSpPr>
        <p:spPr>
          <a:xfrm>
            <a:off x="938212" y="5648325"/>
            <a:ext cx="472559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OPERATIONS VIEW</a:t>
            </a:r>
            <a:endParaRPr/>
          </a:p>
        </p:txBody>
      </p:sp>
      <p:sp>
        <p:nvSpPr>
          <p:cNvPr id="484" name="Google Shape;484;p28"/>
          <p:cNvSpPr txBox="1"/>
          <p:nvPr/>
        </p:nvSpPr>
        <p:spPr>
          <a:xfrm>
            <a:off x="685800" y="5838825"/>
            <a:ext cx="475297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Enables the COO and Logistics Directors to pin-point specific seller and carrier bottlenecks before they cause customer cancellations.</a:t>
            </a:r>
            <a:endParaRPr/>
          </a:p>
        </p:txBody>
      </p:sp>
      <p:sp>
        <p:nvSpPr>
          <p:cNvPr id="485" name="Google Shape;485;p28"/>
          <p:cNvSpPr txBox="1"/>
          <p:nvPr/>
        </p:nvSpPr>
        <p:spPr>
          <a:xfrm>
            <a:off x="952500" y="2609850"/>
            <a:ext cx="4448175" cy="214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Real-time tracking of On-Time Delivery % vs SLA Promises.</a:t>
            </a:r>
            <a:endParaRPr/>
          </a:p>
        </p:txBody>
      </p:sp>
      <p:sp>
        <p:nvSpPr>
          <p:cNvPr id="486" name="Google Shape;486;p28"/>
          <p:cNvSpPr txBox="1"/>
          <p:nvPr/>
        </p:nvSpPr>
        <p:spPr>
          <a:xfrm>
            <a:off x="952500" y="2938462"/>
            <a:ext cx="4448175" cy="214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Seller dispatch delays vs Carrier transit durations.</a:t>
            </a:r>
            <a:endParaRPr/>
          </a:p>
        </p:txBody>
      </p:sp>
      <p:sp>
        <p:nvSpPr>
          <p:cNvPr id="487" name="Google Shape;487;p28"/>
          <p:cNvSpPr txBox="1"/>
          <p:nvPr/>
        </p:nvSpPr>
        <p:spPr>
          <a:xfrm>
            <a:off x="952500" y="3267075"/>
            <a:ext cx="4448175" cy="214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Freight spend ratio per order across geographic zones.</a:t>
            </a:r>
            <a:endParaRPr/>
          </a:p>
        </p:txBody>
      </p:sp>
      <p:pic>
        <p:nvPicPr>
          <p:cNvPr descr="image.png" id="488" name="Google Shape;488;p2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85800" y="5657850"/>
            <a:ext cx="176212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28"/>
          <p:cNvSpPr txBox="1"/>
          <p:nvPr/>
        </p:nvSpPr>
        <p:spPr>
          <a:xfrm>
            <a:off x="723900" y="262890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490" name="Google Shape;490;p28"/>
          <p:cNvSpPr txBox="1"/>
          <p:nvPr/>
        </p:nvSpPr>
        <p:spPr>
          <a:xfrm>
            <a:off x="723900" y="2957512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491" name="Google Shape;491;p28"/>
          <p:cNvSpPr txBox="1"/>
          <p:nvPr/>
        </p:nvSpPr>
        <p:spPr>
          <a:xfrm>
            <a:off x="723900" y="328612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96" name="Google Shape;496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97" name="Google Shape;497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1171575"/>
            <a:ext cx="2638425" cy="12267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98" name="Google Shape;498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62325" y="1171575"/>
            <a:ext cx="2638425" cy="12267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99" name="Google Shape;499;p2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91250" y="1171575"/>
            <a:ext cx="2638425" cy="12267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00" name="Google Shape;500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020175" y="1171575"/>
            <a:ext cx="2638425" cy="12267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01" name="Google Shape;501;p2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33400" y="2626965"/>
            <a:ext cx="5391150" cy="377383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02" name="Google Shape;502;p2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67450" y="2626965"/>
            <a:ext cx="5391150" cy="3773834"/>
          </a:xfrm>
          <a:prstGeom prst="rect">
            <a:avLst/>
          </a:prstGeom>
          <a:noFill/>
          <a:ln>
            <a:noFill/>
          </a:ln>
        </p:spPr>
      </p:pic>
      <p:sp>
        <p:nvSpPr>
          <p:cNvPr id="503" name="Google Shape;503;p29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Supply Chain Key Performance Indicators</a:t>
            </a:r>
            <a:endParaRPr/>
          </a:p>
        </p:txBody>
      </p:sp>
      <p:sp>
        <p:nvSpPr>
          <p:cNvPr id="504" name="Google Shape;504;p29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505" name="Google Shape;505;p2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220176" y="514350"/>
            <a:ext cx="1438423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506" name="Google Shape;506;p29"/>
          <p:cNvSpPr txBox="1"/>
          <p:nvPr/>
        </p:nvSpPr>
        <p:spPr>
          <a:xfrm>
            <a:off x="733425" y="137160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ON-TIME SLA DELIVERY</a:t>
            </a:r>
            <a:endParaRPr/>
          </a:p>
        </p:txBody>
      </p:sp>
      <p:sp>
        <p:nvSpPr>
          <p:cNvPr id="507" name="Google Shape;507;p29"/>
          <p:cNvSpPr txBox="1"/>
          <p:nvPr/>
        </p:nvSpPr>
        <p:spPr>
          <a:xfrm>
            <a:off x="733425" y="1590675"/>
            <a:ext cx="2238375" cy="3981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92.4%</a:t>
            </a:r>
            <a:endParaRPr/>
          </a:p>
        </p:txBody>
      </p:sp>
      <p:sp>
        <p:nvSpPr>
          <p:cNvPr id="508" name="Google Shape;508;p29"/>
          <p:cNvSpPr txBox="1"/>
          <p:nvPr/>
        </p:nvSpPr>
        <p:spPr>
          <a:xfrm>
            <a:off x="733425" y="2064990"/>
            <a:ext cx="223837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Target: 97.0%</a:t>
            </a:r>
            <a:endParaRPr/>
          </a:p>
        </p:txBody>
      </p:sp>
      <p:sp>
        <p:nvSpPr>
          <p:cNvPr id="509" name="Google Shape;509;p29"/>
          <p:cNvSpPr txBox="1"/>
          <p:nvPr/>
        </p:nvSpPr>
        <p:spPr>
          <a:xfrm>
            <a:off x="3562350" y="137160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LATE DELIVERIES</a:t>
            </a:r>
            <a:endParaRPr/>
          </a:p>
        </p:txBody>
      </p:sp>
      <p:sp>
        <p:nvSpPr>
          <p:cNvPr id="510" name="Google Shape;510;p29"/>
          <p:cNvSpPr txBox="1"/>
          <p:nvPr/>
        </p:nvSpPr>
        <p:spPr>
          <a:xfrm>
            <a:off x="3562350" y="1590675"/>
            <a:ext cx="2238375" cy="3981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7,534</a:t>
            </a:r>
            <a:endParaRPr/>
          </a:p>
        </p:txBody>
      </p:sp>
      <p:sp>
        <p:nvSpPr>
          <p:cNvPr id="511" name="Google Shape;511;p29"/>
          <p:cNvSpPr txBox="1"/>
          <p:nvPr/>
        </p:nvSpPr>
        <p:spPr>
          <a:xfrm>
            <a:off x="3562350" y="2064990"/>
            <a:ext cx="223837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7.6% of Total Orders</a:t>
            </a:r>
            <a:endParaRPr/>
          </a:p>
        </p:txBody>
      </p:sp>
      <p:sp>
        <p:nvSpPr>
          <p:cNvPr id="512" name="Google Shape;512;p29"/>
          <p:cNvSpPr txBox="1"/>
          <p:nvPr/>
        </p:nvSpPr>
        <p:spPr>
          <a:xfrm>
            <a:off x="6391275" y="137160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DELIVERY TIME</a:t>
            </a:r>
            <a:endParaRPr/>
          </a:p>
        </p:txBody>
      </p:sp>
      <p:sp>
        <p:nvSpPr>
          <p:cNvPr id="513" name="Google Shape;513;p29"/>
          <p:cNvSpPr txBox="1"/>
          <p:nvPr/>
        </p:nvSpPr>
        <p:spPr>
          <a:xfrm>
            <a:off x="6391275" y="1590675"/>
            <a:ext cx="2238375" cy="3981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 Days</a:t>
            </a:r>
            <a:endParaRPr/>
          </a:p>
        </p:txBody>
      </p:sp>
      <p:sp>
        <p:nvSpPr>
          <p:cNvPr id="514" name="Google Shape;514;p29"/>
          <p:cNvSpPr txBox="1"/>
          <p:nvPr/>
        </p:nvSpPr>
        <p:spPr>
          <a:xfrm>
            <a:off x="6391275" y="2064990"/>
            <a:ext cx="223837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Order-to-Doorstep</a:t>
            </a:r>
            <a:endParaRPr/>
          </a:p>
        </p:txBody>
      </p:sp>
      <p:sp>
        <p:nvSpPr>
          <p:cNvPr id="515" name="Google Shape;515;p29"/>
          <p:cNvSpPr txBox="1"/>
          <p:nvPr/>
        </p:nvSpPr>
        <p:spPr>
          <a:xfrm>
            <a:off x="9220200" y="137160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FREIGHT EXPENSE</a:t>
            </a:r>
            <a:endParaRPr/>
          </a:p>
        </p:txBody>
      </p:sp>
      <p:sp>
        <p:nvSpPr>
          <p:cNvPr id="516" name="Google Shape;516;p29"/>
          <p:cNvSpPr txBox="1"/>
          <p:nvPr/>
        </p:nvSpPr>
        <p:spPr>
          <a:xfrm>
            <a:off x="9220200" y="1590675"/>
            <a:ext cx="2238375" cy="3981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$2.25M</a:t>
            </a:r>
            <a:endParaRPr/>
          </a:p>
        </p:txBody>
      </p:sp>
      <p:sp>
        <p:nvSpPr>
          <p:cNvPr id="517" name="Google Shape;517;p29"/>
          <p:cNvSpPr txBox="1"/>
          <p:nvPr/>
        </p:nvSpPr>
        <p:spPr>
          <a:xfrm>
            <a:off x="9220200" y="2064990"/>
            <a:ext cx="223837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$22.6/Order</a:t>
            </a:r>
            <a:endParaRPr/>
          </a:p>
        </p:txBody>
      </p:sp>
      <p:sp>
        <p:nvSpPr>
          <p:cNvPr id="518" name="Google Shape;518;p29"/>
          <p:cNvSpPr txBox="1"/>
          <p:nvPr/>
        </p:nvSpPr>
        <p:spPr>
          <a:xfrm>
            <a:off x="771525" y="2865090"/>
            <a:ext cx="5160645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Order Lifecycle Stage Breakdown</a:t>
            </a:r>
            <a:endParaRPr/>
          </a:p>
        </p:txBody>
      </p:sp>
      <p:sp>
        <p:nvSpPr>
          <p:cNvPr id="519" name="Google Shape;519;p29"/>
          <p:cNvSpPr txBox="1"/>
          <p:nvPr/>
        </p:nvSpPr>
        <p:spPr>
          <a:xfrm>
            <a:off x="771525" y="3207990"/>
            <a:ext cx="4914900" cy="214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Analyzing average duration at each milestone of the fulfillment journey:</a:t>
            </a:r>
            <a:endParaRPr/>
          </a:p>
        </p:txBody>
      </p:sp>
      <p:sp>
        <p:nvSpPr>
          <p:cNvPr id="520" name="Google Shape;520;p29"/>
          <p:cNvSpPr txBox="1"/>
          <p:nvPr/>
        </p:nvSpPr>
        <p:spPr>
          <a:xfrm>
            <a:off x="6534150" y="2865090"/>
            <a:ext cx="5130641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Primary Operational Bottleneck</a:t>
            </a:r>
            <a:endParaRPr/>
          </a:p>
        </p:txBody>
      </p:sp>
      <p:sp>
        <p:nvSpPr>
          <p:cNvPr id="521" name="Google Shape;521;p29"/>
          <p:cNvSpPr txBox="1"/>
          <p:nvPr/>
        </p:nvSpPr>
        <p:spPr>
          <a:xfrm>
            <a:off x="6534150" y="3207990"/>
            <a:ext cx="48863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Carrier Transit (9.4 Days)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represents 75% of the total customer waiting period, driven by inefficient long-haul road freight routes across Brazil.</a:t>
            </a:r>
            <a:endParaRPr/>
          </a:p>
        </p:txBody>
      </p:sp>
      <p:sp>
        <p:nvSpPr>
          <p:cNvPr id="522" name="Google Shape;522;p29"/>
          <p:cNvSpPr txBox="1"/>
          <p:nvPr/>
        </p:nvSpPr>
        <p:spPr>
          <a:xfrm>
            <a:off x="6762750" y="3865215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Seller Dispatch: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Generally compliant (2.8 days avg), but high variance among SMB sellers in SP.</a:t>
            </a:r>
            <a:endParaRPr/>
          </a:p>
        </p:txBody>
      </p:sp>
      <p:sp>
        <p:nvSpPr>
          <p:cNvPr id="523" name="Google Shape;523;p29"/>
          <p:cNvSpPr txBox="1"/>
          <p:nvPr/>
        </p:nvSpPr>
        <p:spPr>
          <a:xfrm>
            <a:off x="6762750" y="4408140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Carrier Delivery: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Extreme variance between Southeast (7-9 days) and Northeast (18-24 days).</a:t>
            </a:r>
            <a:endParaRPr/>
          </a:p>
        </p:txBody>
      </p:sp>
      <p:sp>
        <p:nvSpPr>
          <p:cNvPr id="524" name="Google Shape;524;p29"/>
          <p:cNvSpPr txBox="1"/>
          <p:nvPr/>
        </p:nvSpPr>
        <p:spPr>
          <a:xfrm>
            <a:off x="6534150" y="388426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525" name="Google Shape;525;p29"/>
          <p:cNvSpPr txBox="1"/>
          <p:nvPr/>
        </p:nvSpPr>
        <p:spPr>
          <a:xfrm>
            <a:off x="6534150" y="442719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30" name="Google Shape;530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31" name="Google Shape;531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86425"/>
            <a:ext cx="11125200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32" name="Google Shape;532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1171575"/>
            <a:ext cx="5391150" cy="4362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33" name="Google Shape;533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67450" y="1171575"/>
            <a:ext cx="5391150" cy="4362450"/>
          </a:xfrm>
          <a:prstGeom prst="rect">
            <a:avLst/>
          </a:prstGeom>
          <a:noFill/>
          <a:ln>
            <a:noFill/>
          </a:ln>
        </p:spPr>
      </p:pic>
      <p:sp>
        <p:nvSpPr>
          <p:cNvPr id="534" name="Google Shape;534;p30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Supply Chain Insight: Delivery Delay Dynamics</a:t>
            </a:r>
            <a:endParaRPr/>
          </a:p>
        </p:txBody>
      </p:sp>
      <p:sp>
        <p:nvSpPr>
          <p:cNvPr id="535" name="Google Shape;535;p30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536" name="Google Shape;536;p3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427493" y="514350"/>
            <a:ext cx="1231106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30"/>
          <p:cNvSpPr txBox="1"/>
          <p:nvPr/>
        </p:nvSpPr>
        <p:spPr>
          <a:xfrm>
            <a:off x="976312" y="5848350"/>
            <a:ext cx="11006375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OPERATIONAL RECOMMENDATION</a:t>
            </a:r>
            <a:endParaRPr/>
          </a:p>
        </p:txBody>
      </p:sp>
      <p:sp>
        <p:nvSpPr>
          <p:cNvPr id="538" name="Google Shape;538;p30"/>
          <p:cNvSpPr txBox="1"/>
          <p:nvPr/>
        </p:nvSpPr>
        <p:spPr>
          <a:xfrm>
            <a:off x="762000" y="6038850"/>
            <a:ext cx="106965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Re-negotiate RJ state last-mile contracts and transition to regional 3PL logistics partners specialized in Rio de Janeiro transit routes.</a:t>
            </a:r>
            <a:endParaRPr/>
          </a:p>
        </p:txBody>
      </p:sp>
      <p:sp>
        <p:nvSpPr>
          <p:cNvPr id="539" name="Google Shape;539;p30"/>
          <p:cNvSpPr txBox="1"/>
          <p:nvPr/>
        </p:nvSpPr>
        <p:spPr>
          <a:xfrm>
            <a:off x="771525" y="1409700"/>
            <a:ext cx="5160645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Regional SLA Performance</a:t>
            </a:r>
            <a:endParaRPr/>
          </a:p>
        </p:txBody>
      </p:sp>
      <p:sp>
        <p:nvSpPr>
          <p:cNvPr id="540" name="Google Shape;540;p30"/>
          <p:cNvSpPr txBox="1"/>
          <p:nvPr/>
        </p:nvSpPr>
        <p:spPr>
          <a:xfrm>
            <a:off x="6534150" y="1409700"/>
            <a:ext cx="5130641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Business Analysis &amp; SLA Breach Impact</a:t>
            </a:r>
            <a:endParaRPr/>
          </a:p>
        </p:txBody>
      </p:sp>
      <p:pic>
        <p:nvPicPr>
          <p:cNvPr descr="image.png" id="541" name="Google Shape;541;p3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5857875"/>
            <a:ext cx="138112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542" name="Google Shape;542;p30"/>
          <p:cNvSpPr txBox="1"/>
          <p:nvPr/>
        </p:nvSpPr>
        <p:spPr>
          <a:xfrm>
            <a:off x="6762750" y="1752600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Question: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Why do certain states experience severe SLA breach rates despite proximity to sellers?</a:t>
            </a:r>
            <a:endParaRPr/>
          </a:p>
        </p:txBody>
      </p:sp>
      <p:sp>
        <p:nvSpPr>
          <p:cNvPr id="543" name="Google Shape;543;p30"/>
          <p:cNvSpPr txBox="1"/>
          <p:nvPr/>
        </p:nvSpPr>
        <p:spPr>
          <a:xfrm>
            <a:off x="6762750" y="2295525"/>
            <a:ext cx="4657725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Finding: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Rio de Janeiro (RJ) suffers a disproportionately high late delivery rate (</a:t>
            </a: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14.2% late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 compared to SP (</a:t>
            </a: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5.1% late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), despite similar geographic distance from major seller hubs.</a:t>
            </a:r>
            <a:endParaRPr/>
          </a:p>
        </p:txBody>
      </p:sp>
      <p:sp>
        <p:nvSpPr>
          <p:cNvPr id="544" name="Google Shape;544;p30"/>
          <p:cNvSpPr txBox="1"/>
          <p:nvPr/>
        </p:nvSpPr>
        <p:spPr>
          <a:xfrm>
            <a:off x="6762750" y="3052762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Root Cause: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Local carrier last-mile distribution bottlenecks and customs/tax audit delays at RJ state borders.</a:t>
            </a:r>
            <a:endParaRPr/>
          </a:p>
        </p:txBody>
      </p:sp>
      <p:sp>
        <p:nvSpPr>
          <p:cNvPr id="545" name="Google Shape;545;p30"/>
          <p:cNvSpPr txBox="1"/>
          <p:nvPr/>
        </p:nvSpPr>
        <p:spPr>
          <a:xfrm>
            <a:off x="6534150" y="177165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546" name="Google Shape;546;p30"/>
          <p:cNvSpPr txBox="1"/>
          <p:nvPr/>
        </p:nvSpPr>
        <p:spPr>
          <a:xfrm>
            <a:off x="6534150" y="231457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547" name="Google Shape;547;p30"/>
          <p:cNvSpPr txBox="1"/>
          <p:nvPr/>
        </p:nvSpPr>
        <p:spPr>
          <a:xfrm>
            <a:off x="6534150" y="3071812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52" name="Google Shape;552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53" name="Google Shape;553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86425"/>
            <a:ext cx="11125200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54" name="Google Shape;554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1171575"/>
            <a:ext cx="5391150" cy="4362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55" name="Google Shape;555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67450" y="1171575"/>
            <a:ext cx="5391150" cy="4362450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31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Supply Chain Insight: Freight Cost vs Distance</a:t>
            </a:r>
            <a:endParaRPr/>
          </a:p>
        </p:txBody>
      </p:sp>
      <p:sp>
        <p:nvSpPr>
          <p:cNvPr id="557" name="Google Shape;557;p31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558" name="Google Shape;558;p3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427493" y="514350"/>
            <a:ext cx="1231106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559" name="Google Shape;559;p31"/>
          <p:cNvSpPr txBox="1"/>
          <p:nvPr/>
        </p:nvSpPr>
        <p:spPr>
          <a:xfrm>
            <a:off x="1014412" y="5848350"/>
            <a:ext cx="1096637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EXECUTIVE ACTION</a:t>
            </a:r>
            <a:endParaRPr/>
          </a:p>
        </p:txBody>
      </p:sp>
      <p:sp>
        <p:nvSpPr>
          <p:cNvPr id="560" name="Google Shape;560;p31"/>
          <p:cNvSpPr txBox="1"/>
          <p:nvPr/>
        </p:nvSpPr>
        <p:spPr>
          <a:xfrm>
            <a:off x="762000" y="6038850"/>
            <a:ext cx="106965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Establish regional fulfillment center partnerships in Salvador and Recife to convert cross-country shipping into localized short-haul delivery.</a:t>
            </a:r>
            <a:endParaRPr/>
          </a:p>
        </p:txBody>
      </p:sp>
      <p:sp>
        <p:nvSpPr>
          <p:cNvPr id="561" name="Google Shape;561;p31"/>
          <p:cNvSpPr txBox="1"/>
          <p:nvPr/>
        </p:nvSpPr>
        <p:spPr>
          <a:xfrm>
            <a:off x="771525" y="1409700"/>
            <a:ext cx="5160645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Freight Cost as % of Order Value</a:t>
            </a:r>
            <a:endParaRPr/>
          </a:p>
        </p:txBody>
      </p:sp>
      <p:sp>
        <p:nvSpPr>
          <p:cNvPr id="562" name="Google Shape;562;p31"/>
          <p:cNvSpPr txBox="1"/>
          <p:nvPr/>
        </p:nvSpPr>
        <p:spPr>
          <a:xfrm>
            <a:off x="6534150" y="1409700"/>
            <a:ext cx="5130641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Freight Disparity Analysis</a:t>
            </a:r>
            <a:endParaRPr/>
          </a:p>
        </p:txBody>
      </p:sp>
      <p:pic>
        <p:nvPicPr>
          <p:cNvPr descr="image.png" id="563" name="Google Shape;563;p3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5857875"/>
            <a:ext cx="176212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564" name="Google Shape;564;p31"/>
          <p:cNvSpPr txBox="1"/>
          <p:nvPr/>
        </p:nvSpPr>
        <p:spPr>
          <a:xfrm>
            <a:off x="6762750" y="1752600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Question: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How severely does freight expense erode conversion in outlying states?</a:t>
            </a:r>
            <a:endParaRPr/>
          </a:p>
        </p:txBody>
      </p:sp>
      <p:sp>
        <p:nvSpPr>
          <p:cNvPr id="565" name="Google Shape;565;p31"/>
          <p:cNvSpPr txBox="1"/>
          <p:nvPr/>
        </p:nvSpPr>
        <p:spPr>
          <a:xfrm>
            <a:off x="6762750" y="2295525"/>
            <a:ext cx="4657725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Finding: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Customers in the Northeast pay more than double the freight ratio (22.4%) of Southeast customers (10.5%), restricting purchase conversion to high-income buyers.</a:t>
            </a:r>
            <a:endParaRPr/>
          </a:p>
        </p:txBody>
      </p:sp>
      <p:sp>
        <p:nvSpPr>
          <p:cNvPr id="566" name="Google Shape;566;p31"/>
          <p:cNvSpPr txBox="1"/>
          <p:nvPr/>
        </p:nvSpPr>
        <p:spPr>
          <a:xfrm>
            <a:off x="6762750" y="3052762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Impact: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Heavy items incur freight costs exceeding 35% of product price, leading to high cart abandonment.</a:t>
            </a:r>
            <a:endParaRPr/>
          </a:p>
        </p:txBody>
      </p:sp>
      <p:sp>
        <p:nvSpPr>
          <p:cNvPr id="567" name="Google Shape;567;p31"/>
          <p:cNvSpPr txBox="1"/>
          <p:nvPr/>
        </p:nvSpPr>
        <p:spPr>
          <a:xfrm>
            <a:off x="6534150" y="177165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568" name="Google Shape;568;p31"/>
          <p:cNvSpPr txBox="1"/>
          <p:nvPr/>
        </p:nvSpPr>
        <p:spPr>
          <a:xfrm>
            <a:off x="6534150" y="231457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569" name="Google Shape;569;p31"/>
          <p:cNvSpPr txBox="1"/>
          <p:nvPr/>
        </p:nvSpPr>
        <p:spPr>
          <a:xfrm>
            <a:off x="6534150" y="3071812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74" name="Google Shape;574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75" name="Google Shape;575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86425"/>
            <a:ext cx="11125200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76" name="Google Shape;576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1171575"/>
            <a:ext cx="5391150" cy="432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77" name="Google Shape;577;p3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67450" y="1171575"/>
            <a:ext cx="5391150" cy="432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78" name="Google Shape;578;p3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96050" y="2695575"/>
            <a:ext cx="4933950" cy="133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9" name="Google Shape;579;p32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Critical Insight: SP Bottleneck &amp; Cancellations</a:t>
            </a:r>
            <a:endParaRPr/>
          </a:p>
        </p:txBody>
      </p:sp>
      <p:sp>
        <p:nvSpPr>
          <p:cNvPr id="580" name="Google Shape;580;p32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581" name="Google Shape;581;p3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588251" y="514350"/>
            <a:ext cx="2070348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32"/>
          <p:cNvSpPr txBox="1"/>
          <p:nvPr/>
        </p:nvSpPr>
        <p:spPr>
          <a:xfrm>
            <a:off x="1014412" y="5848350"/>
            <a:ext cx="1096637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CONNECTED RECOMMENDATION</a:t>
            </a:r>
            <a:endParaRPr/>
          </a:p>
        </p:txBody>
      </p:sp>
      <p:sp>
        <p:nvSpPr>
          <p:cNvPr id="583" name="Google Shape;583;p32"/>
          <p:cNvSpPr txBox="1"/>
          <p:nvPr/>
        </p:nvSpPr>
        <p:spPr>
          <a:xfrm>
            <a:off x="762000" y="6038850"/>
            <a:ext cx="106965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Implement strict Seller SLA Compliance Monitoring in SP. Penalize or tier sellers exceeding 48-hour dispatch windows to eliminate the core driver of platform cancellations.</a:t>
            </a:r>
            <a:endParaRPr/>
          </a:p>
        </p:txBody>
      </p:sp>
      <p:sp>
        <p:nvSpPr>
          <p:cNvPr id="584" name="Google Shape;584;p32"/>
          <p:cNvSpPr txBox="1"/>
          <p:nvPr/>
        </p:nvSpPr>
        <p:spPr>
          <a:xfrm>
            <a:off x="800100" y="1409700"/>
            <a:ext cx="5130641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The SP Operational Paradox</a:t>
            </a:r>
            <a:endParaRPr/>
          </a:p>
        </p:txBody>
      </p:sp>
      <p:sp>
        <p:nvSpPr>
          <p:cNvPr id="585" name="Google Shape;585;p32"/>
          <p:cNvSpPr txBox="1"/>
          <p:nvPr/>
        </p:nvSpPr>
        <p:spPr>
          <a:xfrm>
            <a:off x="6496050" y="1400175"/>
            <a:ext cx="5180647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Systemic Insight &amp; Business Story</a:t>
            </a:r>
            <a:endParaRPr/>
          </a:p>
        </p:txBody>
      </p:sp>
      <p:sp>
        <p:nvSpPr>
          <p:cNvPr id="586" name="Google Shape;586;p32"/>
          <p:cNvSpPr txBox="1"/>
          <p:nvPr/>
        </p:nvSpPr>
        <p:spPr>
          <a:xfrm>
            <a:off x="6496050" y="1743075"/>
            <a:ext cx="493395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São Paulo represents OLIST's largest operational bottleneck.</a:t>
            </a:r>
            <a:r>
              <a:rPr b="0" i="0" lang="en-US" sz="1125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Because SP handles the vast majority of initial fulfillment dispatches, seller delays in SP create a cascading backlog.</a:t>
            </a:r>
            <a:endParaRPr/>
          </a:p>
        </p:txBody>
      </p:sp>
      <p:pic>
        <p:nvPicPr>
          <p:cNvPr descr="image.png" id="587" name="Google Shape;587;p3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5857875"/>
            <a:ext cx="176212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588" name="Google Shape;588;p32"/>
          <p:cNvSpPr txBox="1"/>
          <p:nvPr/>
        </p:nvSpPr>
        <p:spPr>
          <a:xfrm>
            <a:off x="1028700" y="1752600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Seller Hub Concentration: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72% of OLIST sellers operate within São Paulo State.</a:t>
            </a:r>
            <a:endParaRPr/>
          </a:p>
        </p:txBody>
      </p:sp>
      <p:sp>
        <p:nvSpPr>
          <p:cNvPr id="589" name="Google Shape;589;p32"/>
          <p:cNvSpPr txBox="1"/>
          <p:nvPr/>
        </p:nvSpPr>
        <p:spPr>
          <a:xfrm>
            <a:off x="1028700" y="2295525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Highest Delayed Sellers: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SP contains the highest total count of delayed seller dispatches (over 3,200 orders delayed at dispatch stage).</a:t>
            </a:r>
            <a:endParaRPr/>
          </a:p>
        </p:txBody>
      </p:sp>
      <p:sp>
        <p:nvSpPr>
          <p:cNvPr id="590" name="Google Shape;590;p32"/>
          <p:cNvSpPr txBox="1"/>
          <p:nvPr/>
        </p:nvSpPr>
        <p:spPr>
          <a:xfrm>
            <a:off x="1028700" y="2838450"/>
            <a:ext cx="4657725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 Correlation: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SP accounts for </a:t>
            </a:r>
            <a:r>
              <a:rPr b="1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42% of total platform order cancellations</a:t>
            </a:r>
            <a:r>
              <a:rPr b="0" i="0" lang="en-US" sz="112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(748 out of 1,780 cancellations).</a:t>
            </a:r>
            <a:endParaRPr/>
          </a:p>
        </p:txBody>
      </p:sp>
      <p:sp>
        <p:nvSpPr>
          <p:cNvPr id="591" name="Google Shape;591;p32"/>
          <p:cNvSpPr txBox="1"/>
          <p:nvPr/>
        </p:nvSpPr>
        <p:spPr>
          <a:xfrm>
            <a:off x="6648450" y="2847975"/>
            <a:ext cx="46291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Seller Delay in SP → Prolonged Customer Wait → Order Cancellation</a:t>
            </a:r>
            <a:endParaRPr/>
          </a:p>
        </p:txBody>
      </p:sp>
      <p:sp>
        <p:nvSpPr>
          <p:cNvPr id="592" name="Google Shape;592;p32"/>
          <p:cNvSpPr txBox="1"/>
          <p:nvPr/>
        </p:nvSpPr>
        <p:spPr>
          <a:xfrm>
            <a:off x="6648450" y="3390900"/>
            <a:ext cx="46291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High cancellation rates in SP are NOT caused by shipping distances, but by local seller dispatch friction.</a:t>
            </a:r>
            <a:endParaRPr/>
          </a:p>
        </p:txBody>
      </p:sp>
      <p:sp>
        <p:nvSpPr>
          <p:cNvPr id="593" name="Google Shape;593;p32"/>
          <p:cNvSpPr txBox="1"/>
          <p:nvPr/>
        </p:nvSpPr>
        <p:spPr>
          <a:xfrm>
            <a:off x="800100" y="177165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594" name="Google Shape;594;p32"/>
          <p:cNvSpPr txBox="1"/>
          <p:nvPr/>
        </p:nvSpPr>
        <p:spPr>
          <a:xfrm>
            <a:off x="800100" y="2314575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  <p:sp>
        <p:nvSpPr>
          <p:cNvPr id="595" name="Google Shape;595;p32"/>
          <p:cNvSpPr txBox="1"/>
          <p:nvPr/>
        </p:nvSpPr>
        <p:spPr>
          <a:xfrm>
            <a:off x="800100" y="2857500"/>
            <a:ext cx="666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■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00" name="Google Shape;60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01" name="Google Shape;601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3295650"/>
            <a:ext cx="11125200" cy="71437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33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Supply Chain Strategic Action Plan</a:t>
            </a:r>
            <a:endParaRPr/>
          </a:p>
        </p:txBody>
      </p:sp>
      <p:sp>
        <p:nvSpPr>
          <p:cNvPr id="603" name="Google Shape;603;p33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604" name="Google Shape;604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912548" y="514350"/>
            <a:ext cx="1746051" cy="2381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05" name="Google Shape;605;p33"/>
          <p:cNvGraphicFramePr/>
          <p:nvPr/>
        </p:nvGraphicFramePr>
        <p:xfrm>
          <a:off x="533400" y="117157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{B4B3DDB1-13C6-4B1C-B614-515D47965E8A}</a:tableStyleId>
              </a:tblPr>
              <a:tblGrid>
                <a:gridCol w="1859150"/>
                <a:gridCol w="2834575"/>
                <a:gridCol w="3914775"/>
                <a:gridCol w="2516675"/>
              </a:tblGrid>
              <a:tr h="473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Operational Finding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2F7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Evidence / Metric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2F7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Strategic Action Plan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2F7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Expected Business Impact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2F73"/>
                    </a:solidFill>
                  </a:tcPr>
                </a:tc>
              </a:tr>
              <a:tr h="473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São Paulo Dispatch Bottleneck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42% of cancellations; 3,200+ seller dispatch delays in SP.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Establish strict 48-hour SP seller fulfillment SLAs and automated dispatch alerts.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-30% Order Cancellations</a:t>
                      </a:r>
                      <a:br>
                        <a:rPr lang="en-US" sz="18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b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</a:b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         ($250K recovered revenue)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3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Rio de Janeiro Transit Lag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14.2% late delivery rate in RJ vs 5.1% in SP.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Consolidate RJ routes under dedicated 3PL carriers with automated last-mile tracking.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Improve RJ On-Time SLA</a:t>
                      </a: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 from 85.8% to 94.0%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73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High Northeast Freight Ratio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Freight equals 22.4% of order value in NE.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Partner with regional distribution centers in NE for top 100 fast-moving SKUs.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5-8% Logistics Savings</a:t>
                      </a:r>
                      <a:br>
                        <a:rPr lang="en-US" sz="18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b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</a:br>
                      <a:r>
                        <a:rPr b="0" i="0" lang="en-US" sz="1050" u="none" cap="none" strike="noStrike">
                          <a:solidFill>
                            <a:srgbClr val="334155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         3-day delivery time reduction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06" name="Google Shape;606;p33"/>
          <p:cNvSpPr txBox="1"/>
          <p:nvPr/>
        </p:nvSpPr>
        <p:spPr>
          <a:xfrm>
            <a:off x="957262" y="3457575"/>
            <a:ext cx="11026378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A2F7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LOGISTICS MANDATE</a:t>
            </a:r>
            <a:endParaRPr/>
          </a:p>
        </p:txBody>
      </p:sp>
      <p:sp>
        <p:nvSpPr>
          <p:cNvPr id="607" name="Google Shape;607;p33"/>
          <p:cNvSpPr txBox="1"/>
          <p:nvPr/>
        </p:nvSpPr>
        <p:spPr>
          <a:xfrm>
            <a:off x="762000" y="3648075"/>
            <a:ext cx="106965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293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Transition from a passive marketplace delivery framework to a proactive, SLA-governed fulfillment network.</a:t>
            </a:r>
            <a:endParaRPr/>
          </a:p>
        </p:txBody>
      </p:sp>
      <p:pic>
        <p:nvPicPr>
          <p:cNvPr descr="image.png" id="608" name="Google Shape;608;p3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3467100"/>
            <a:ext cx="119062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609" name="Google Shape;609;p33"/>
          <p:cNvSpPr/>
          <p:nvPr/>
        </p:nvSpPr>
        <p:spPr>
          <a:xfrm>
            <a:off x="533400" y="2043112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33"/>
          <p:cNvSpPr/>
          <p:nvPr/>
        </p:nvSpPr>
        <p:spPr>
          <a:xfrm>
            <a:off x="2392560" y="2043112"/>
            <a:ext cx="28345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33"/>
          <p:cNvSpPr/>
          <p:nvPr/>
        </p:nvSpPr>
        <p:spPr>
          <a:xfrm>
            <a:off x="5227141" y="2043112"/>
            <a:ext cx="39147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33"/>
          <p:cNvSpPr/>
          <p:nvPr/>
        </p:nvSpPr>
        <p:spPr>
          <a:xfrm>
            <a:off x="9141916" y="2043112"/>
            <a:ext cx="25166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33"/>
          <p:cNvSpPr/>
          <p:nvPr/>
        </p:nvSpPr>
        <p:spPr>
          <a:xfrm>
            <a:off x="533400" y="2547937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33"/>
          <p:cNvSpPr/>
          <p:nvPr/>
        </p:nvSpPr>
        <p:spPr>
          <a:xfrm>
            <a:off x="2392560" y="2547937"/>
            <a:ext cx="28345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33"/>
          <p:cNvSpPr/>
          <p:nvPr/>
        </p:nvSpPr>
        <p:spPr>
          <a:xfrm>
            <a:off x="5227141" y="2547937"/>
            <a:ext cx="39147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33"/>
          <p:cNvSpPr/>
          <p:nvPr/>
        </p:nvSpPr>
        <p:spPr>
          <a:xfrm>
            <a:off x="9141916" y="2547937"/>
            <a:ext cx="25166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33"/>
          <p:cNvSpPr/>
          <p:nvPr/>
        </p:nvSpPr>
        <p:spPr>
          <a:xfrm>
            <a:off x="533400" y="3052762"/>
            <a:ext cx="18591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33"/>
          <p:cNvSpPr/>
          <p:nvPr/>
        </p:nvSpPr>
        <p:spPr>
          <a:xfrm>
            <a:off x="2392560" y="3052762"/>
            <a:ext cx="28345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33"/>
          <p:cNvSpPr/>
          <p:nvPr/>
        </p:nvSpPr>
        <p:spPr>
          <a:xfrm>
            <a:off x="5227141" y="3052762"/>
            <a:ext cx="39147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33"/>
          <p:cNvSpPr/>
          <p:nvPr/>
        </p:nvSpPr>
        <p:spPr>
          <a:xfrm>
            <a:off x="9141916" y="3052762"/>
            <a:ext cx="25166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25" name="Google Shape;625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26" name="Google Shape;626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27" name="Google Shape;627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5586412"/>
            <a:ext cx="5181600" cy="8143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28" name="Google Shape;628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29" name="Google Shape;629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57200" y="457200"/>
            <a:ext cx="2765673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630" name="Google Shape;630;p34"/>
          <p:cNvSpPr txBox="1"/>
          <p:nvPr/>
        </p:nvSpPr>
        <p:spPr>
          <a:xfrm>
            <a:off x="457200" y="952500"/>
            <a:ext cx="5440680" cy="5028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/>
          </a:p>
        </p:txBody>
      </p:sp>
      <p:sp>
        <p:nvSpPr>
          <p:cNvPr id="631" name="Google Shape;631;p34"/>
          <p:cNvSpPr txBox="1"/>
          <p:nvPr/>
        </p:nvSpPr>
        <p:spPr>
          <a:xfrm>
            <a:off x="457200" y="1607790"/>
            <a:ext cx="51816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Questions &amp; Executive Discussion</a:t>
            </a:r>
            <a:endParaRPr/>
          </a:p>
        </p:txBody>
      </p:sp>
      <p:sp>
        <p:nvSpPr>
          <p:cNvPr id="632" name="Google Shape;632;p34"/>
          <p:cNvSpPr txBox="1"/>
          <p:nvPr/>
        </p:nvSpPr>
        <p:spPr>
          <a:xfrm>
            <a:off x="457200" y="2150715"/>
            <a:ext cx="51816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OLIST Business Intelligence Platform unites sales expansion and supply chain control into a single strategic asset for executive leadership.</a:t>
            </a:r>
            <a:endParaRPr/>
          </a:p>
        </p:txBody>
      </p:sp>
      <p:sp>
        <p:nvSpPr>
          <p:cNvPr id="633" name="Google Shape;633;p34"/>
          <p:cNvSpPr txBox="1"/>
          <p:nvPr/>
        </p:nvSpPr>
        <p:spPr>
          <a:xfrm>
            <a:off x="457200" y="5786437"/>
            <a:ext cx="51816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BD5E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Analytics Portfolio | CEO Presentation</a:t>
            </a:r>
            <a:endParaRPr/>
          </a:p>
        </p:txBody>
      </p:sp>
      <p:sp>
        <p:nvSpPr>
          <p:cNvPr id="634" name="Google Shape;634;p34"/>
          <p:cNvSpPr txBox="1"/>
          <p:nvPr/>
        </p:nvSpPr>
        <p:spPr>
          <a:xfrm>
            <a:off x="457200" y="6100762"/>
            <a:ext cx="5181600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20B8F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Contact: analytics-team@olist.com.br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39" name="Google Shape;63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35"/>
          <p:cNvSpPr txBox="1"/>
          <p:nvPr/>
        </p:nvSpPr>
        <p:spPr>
          <a:xfrm>
            <a:off x="533400" y="457200"/>
            <a:ext cx="116586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Image Sources</a:t>
            </a:r>
            <a:endParaRPr/>
          </a:p>
        </p:txBody>
      </p:sp>
      <p:sp>
        <p:nvSpPr>
          <p:cNvPr id="641" name="Google Shape;641;p35"/>
          <p:cNvSpPr/>
          <p:nvPr/>
        </p:nvSpPr>
        <p:spPr>
          <a:xfrm>
            <a:off x="533400" y="923925"/>
            <a:ext cx="11125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35"/>
          <p:cNvSpPr/>
          <p:nvPr/>
        </p:nvSpPr>
        <p:spPr>
          <a:xfrm>
            <a:off x="533400" y="1171575"/>
            <a:ext cx="9024491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35"/>
          <p:cNvSpPr/>
          <p:nvPr/>
        </p:nvSpPr>
        <p:spPr>
          <a:xfrm>
            <a:off x="533400" y="1943100"/>
            <a:ext cx="9024491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35"/>
          <p:cNvSpPr/>
          <p:nvPr/>
        </p:nvSpPr>
        <p:spPr>
          <a:xfrm>
            <a:off x="533400" y="2714625"/>
            <a:ext cx="9024491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35"/>
          <p:cNvSpPr/>
          <p:nvPr/>
        </p:nvSpPr>
        <p:spPr>
          <a:xfrm>
            <a:off x="533400" y="1933575"/>
            <a:ext cx="9024491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35"/>
          <p:cNvSpPr/>
          <p:nvPr/>
        </p:nvSpPr>
        <p:spPr>
          <a:xfrm>
            <a:off x="533400" y="1933575"/>
            <a:ext cx="9024491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35"/>
          <p:cNvSpPr/>
          <p:nvPr/>
        </p:nvSpPr>
        <p:spPr>
          <a:xfrm>
            <a:off x="533400" y="2705100"/>
            <a:ext cx="9024491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35"/>
          <p:cNvSpPr/>
          <p:nvPr/>
        </p:nvSpPr>
        <p:spPr>
          <a:xfrm>
            <a:off x="533400" y="2705100"/>
            <a:ext cx="9024491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35"/>
          <p:cNvSpPr/>
          <p:nvPr/>
        </p:nvSpPr>
        <p:spPr>
          <a:xfrm>
            <a:off x="533400" y="3476625"/>
            <a:ext cx="9024491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35"/>
          <p:cNvSpPr/>
          <p:nvPr/>
        </p:nvSpPr>
        <p:spPr>
          <a:xfrm>
            <a:off x="533400" y="3476625"/>
            <a:ext cx="9024491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651" name="Google Shape;651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131445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652" name="Google Shape;652;p35"/>
          <p:cNvSpPr txBox="1"/>
          <p:nvPr/>
        </p:nvSpPr>
        <p:spPr>
          <a:xfrm>
            <a:off x="1628775" y="1321593"/>
            <a:ext cx="7929116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https://static.vecteezy.com/system/resources/previews/070/207/908/large_2x/aerialgraphy-of-modern-container-port-and-trade-hub-photo.jpg</a:t>
            </a:r>
            <a:endParaRPr/>
          </a:p>
        </p:txBody>
      </p:sp>
      <p:sp>
        <p:nvSpPr>
          <p:cNvPr id="653" name="Google Shape;653;p35"/>
          <p:cNvSpPr txBox="1"/>
          <p:nvPr/>
        </p:nvSpPr>
        <p:spPr>
          <a:xfrm>
            <a:off x="1628775" y="1554956"/>
            <a:ext cx="792911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www.vecteezy.com</a:t>
            </a:r>
            <a:endParaRPr/>
          </a:p>
        </p:txBody>
      </p:sp>
      <p:pic>
        <p:nvPicPr>
          <p:cNvPr descr="image.png" id="654" name="Google Shape;654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208597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35"/>
          <p:cNvSpPr txBox="1"/>
          <p:nvPr/>
        </p:nvSpPr>
        <p:spPr>
          <a:xfrm>
            <a:off x="1628775" y="2093118"/>
            <a:ext cx="7929116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https://docs.celonis.com/en/image/uuid-b64f7525-4585-ee78-f680-e72e5db20885.png</a:t>
            </a:r>
            <a:endParaRPr/>
          </a:p>
        </p:txBody>
      </p:sp>
      <p:sp>
        <p:nvSpPr>
          <p:cNvPr id="656" name="Google Shape;656;p35"/>
          <p:cNvSpPr txBox="1"/>
          <p:nvPr/>
        </p:nvSpPr>
        <p:spPr>
          <a:xfrm>
            <a:off x="1628775" y="2326481"/>
            <a:ext cx="792911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docs.celonis.com</a:t>
            </a:r>
            <a:endParaRPr/>
          </a:p>
        </p:txBody>
      </p:sp>
      <p:pic>
        <p:nvPicPr>
          <p:cNvPr descr="image.png" id="657" name="Google Shape;657;p3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3400" y="285750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35"/>
          <p:cNvSpPr txBox="1"/>
          <p:nvPr/>
        </p:nvSpPr>
        <p:spPr>
          <a:xfrm>
            <a:off x="1628775" y="2864643"/>
            <a:ext cx="7929116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https://www.sinocastel.com/wp-content/uploads/2025/01/Logistics-1.jpg</a:t>
            </a:r>
            <a:endParaRPr/>
          </a:p>
        </p:txBody>
      </p:sp>
      <p:sp>
        <p:nvSpPr>
          <p:cNvPr id="659" name="Google Shape;659;p35"/>
          <p:cNvSpPr txBox="1"/>
          <p:nvPr/>
        </p:nvSpPr>
        <p:spPr>
          <a:xfrm>
            <a:off x="1628775" y="3098006"/>
            <a:ext cx="792911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www.sinocastel.com</a:t>
            </a:r>
            <a:endParaRPr/>
          </a:p>
        </p:txBody>
      </p:sp>
      <p:pic>
        <p:nvPicPr>
          <p:cNvPr descr="image.png" id="660" name="Google Shape;660;p3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33400" y="362902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661" name="Google Shape;661;p35"/>
          <p:cNvSpPr txBox="1"/>
          <p:nvPr/>
        </p:nvSpPr>
        <p:spPr>
          <a:xfrm>
            <a:off x="1628775" y="3636168"/>
            <a:ext cx="7929116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https://fargowoodworks.com/wp-content/uploads/2026/05/twenty-foot-black-walnut-conference-table-corporate-fargo-woodworks-1024x572.webp</a:t>
            </a:r>
            <a:endParaRPr/>
          </a:p>
        </p:txBody>
      </p:sp>
      <p:sp>
        <p:nvSpPr>
          <p:cNvPr id="662" name="Google Shape;662;p35"/>
          <p:cNvSpPr txBox="1"/>
          <p:nvPr/>
        </p:nvSpPr>
        <p:spPr>
          <a:xfrm>
            <a:off x="1628775" y="3869531"/>
            <a:ext cx="792911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fargowoodworks.com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